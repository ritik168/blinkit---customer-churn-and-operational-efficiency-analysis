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992" y="-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004" y="872997"/>
            <a:ext cx="5787135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 u="sng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2004" y="1875789"/>
            <a:ext cx="5824220" cy="4550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3675">
              <a:lnSpc>
                <a:spcPct val="100000"/>
              </a:lnSpc>
              <a:spcBef>
                <a:spcPts val="100"/>
              </a:spcBef>
            </a:pPr>
            <a:r>
              <a:rPr dirty="0"/>
              <a:t>Name:</a:t>
            </a:r>
            <a:r>
              <a:rPr spc="-140" dirty="0"/>
              <a:t> </a:t>
            </a:r>
            <a:r>
              <a:rPr lang="en-US" spc="-20" dirty="0" err="1" smtClean="0"/>
              <a:t>Ritik</a:t>
            </a:r>
            <a:r>
              <a:rPr lang="en-US" spc="-20" dirty="0" smtClean="0"/>
              <a:t> Kumar</a:t>
            </a: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972108" y="2718942"/>
            <a:ext cx="5828030" cy="54437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19630">
              <a:lnSpc>
                <a:spcPct val="116700"/>
              </a:lnSpc>
              <a:spcBef>
                <a:spcPts val="95"/>
              </a:spcBef>
            </a:pPr>
            <a:r>
              <a:rPr sz="4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Email:</a:t>
            </a:r>
            <a:r>
              <a:rPr sz="4800" b="1" spc="-10" dirty="0">
                <a:latin typeface="Calibri"/>
                <a:cs typeface="Calibri"/>
              </a:rPr>
              <a:t> </a:t>
            </a:r>
            <a:r>
              <a:rPr lang="en-US" sz="4800" b="1" u="sng" spc="-10" dirty="0" smtClean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Ritikdbhs@gmail.com</a:t>
            </a:r>
            <a:endParaRPr sz="4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15"/>
              </a:spcBef>
            </a:pPr>
            <a:endParaRPr sz="4800" dirty="0">
              <a:latin typeface="Calibri"/>
              <a:cs typeface="Calibri"/>
            </a:endParaRPr>
          </a:p>
          <a:p>
            <a:pPr marL="1368425" marR="743585" indent="-619125">
              <a:lnSpc>
                <a:spcPct val="116700"/>
              </a:lnSpc>
            </a:pPr>
            <a:r>
              <a:rPr sz="4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Contact</a:t>
            </a:r>
            <a:r>
              <a:rPr sz="4800" b="1" u="sng" spc="-1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4800" b="1" u="sng" spc="-10" dirty="0" smtClean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Number</a:t>
            </a:r>
            <a:endParaRPr lang="en-US" sz="4800" b="1" u="sng" spc="-10" dirty="0">
              <a:uFill>
                <a:solidFill>
                  <a:srgbClr val="000000"/>
                </a:solidFill>
              </a:uFill>
              <a:latin typeface="Calibri"/>
              <a:cs typeface="Calibri"/>
            </a:endParaRPr>
          </a:p>
          <a:p>
            <a:pPr marL="1368425" marR="743585" indent="-619125">
              <a:lnSpc>
                <a:spcPct val="116700"/>
              </a:lnSpc>
            </a:pPr>
            <a:r>
              <a:rPr lang="en-US" sz="4800" b="1" spc="-10" dirty="0" smtClean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  7765039520</a:t>
            </a:r>
          </a:p>
          <a:p>
            <a:pPr marL="1368425" marR="743585" indent="-619125">
              <a:lnSpc>
                <a:spcPct val="116700"/>
              </a:lnSpc>
            </a:pP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Q.A1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5789"/>
            <a:ext cx="5966460" cy="57324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select * from Orders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select * from Customers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select </a:t>
            </a:r>
            <a:r>
              <a:rPr lang="en-IN" dirty="0" err="1" smtClean="0">
                <a:latin typeface="Calibri"/>
                <a:cs typeface="Calibri"/>
              </a:rPr>
              <a:t>C.city</a:t>
            </a:r>
            <a:r>
              <a:rPr lang="en-IN" dirty="0" smtClean="0">
                <a:latin typeface="Calibri"/>
                <a:cs typeface="Calibri"/>
              </a:rPr>
              <a:t>,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AVG(</a:t>
            </a:r>
            <a:r>
              <a:rPr lang="en-IN" dirty="0" err="1" smtClean="0">
                <a:latin typeface="Calibri"/>
                <a:cs typeface="Calibri"/>
              </a:rPr>
              <a:t>O.Deliverytime_minutes</a:t>
            </a:r>
            <a:r>
              <a:rPr lang="en-IN" dirty="0" smtClean="0">
                <a:latin typeface="Calibri"/>
                <a:cs typeface="Calibri"/>
              </a:rPr>
              <a:t>) as </a:t>
            </a:r>
            <a:r>
              <a:rPr lang="en-IN" dirty="0" err="1" smtClean="0">
                <a:latin typeface="Calibri"/>
                <a:cs typeface="Calibri"/>
              </a:rPr>
              <a:t>Average_Delivery_Time</a:t>
            </a: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from Orders O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join Customers C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On </a:t>
            </a:r>
            <a:r>
              <a:rPr lang="en-IN" dirty="0" err="1" smtClean="0">
                <a:latin typeface="Calibri"/>
                <a:cs typeface="Calibri"/>
              </a:rPr>
              <a:t>O.customerid</a:t>
            </a:r>
            <a:r>
              <a:rPr lang="en-IN" dirty="0" smtClean="0">
                <a:latin typeface="Calibri"/>
                <a:cs typeface="Calibri"/>
              </a:rPr>
              <a:t>=</a:t>
            </a:r>
            <a:r>
              <a:rPr lang="en-IN" dirty="0" err="1" smtClean="0">
                <a:latin typeface="Calibri"/>
                <a:cs typeface="Calibri"/>
              </a:rPr>
              <a:t>C.customerid</a:t>
            </a: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Group by </a:t>
            </a:r>
            <a:r>
              <a:rPr lang="en-IN" dirty="0" err="1" smtClean="0">
                <a:latin typeface="Calibri"/>
                <a:cs typeface="Calibri"/>
              </a:rPr>
              <a:t>C.City</a:t>
            </a:r>
            <a:r>
              <a:rPr lang="en-IN" dirty="0" smtClean="0">
                <a:latin typeface="Calibri"/>
                <a:cs typeface="Calibri"/>
              </a:rPr>
              <a:t>;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204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This</a:t>
            </a:r>
            <a:r>
              <a:rPr sz="1600" b="1" spc="204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Query</a:t>
            </a:r>
            <a:r>
              <a:rPr sz="1600" b="1" spc="2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will</a:t>
            </a:r>
            <a:r>
              <a:rPr sz="1600" b="1" spc="204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reflect</a:t>
            </a:r>
            <a:r>
              <a:rPr sz="1600" b="1" spc="2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how</a:t>
            </a:r>
            <a:r>
              <a:rPr sz="1600" b="1" spc="204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efficiently</a:t>
            </a:r>
            <a:r>
              <a:rPr sz="1600" b="1" spc="204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orders</a:t>
            </a:r>
            <a:r>
              <a:rPr sz="1600" b="1" spc="20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204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delivered</a:t>
            </a:r>
            <a:r>
              <a:rPr sz="1600" b="1" spc="20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to </a:t>
            </a:r>
            <a:r>
              <a:rPr sz="1600" b="1" spc="-10" dirty="0">
                <a:latin typeface="Calibri"/>
                <a:cs typeface="Calibri"/>
              </a:rPr>
              <a:t>customers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different </a:t>
            </a:r>
            <a:r>
              <a:rPr sz="1600" b="1" spc="-10" dirty="0">
                <a:latin typeface="Calibri"/>
                <a:cs typeface="Calibri"/>
              </a:rPr>
              <a:t>cities.</a:t>
            </a:r>
            <a:endParaRPr sz="1600" dirty="0">
              <a:latin typeface="Calibri"/>
              <a:cs typeface="Calibri"/>
            </a:endParaRPr>
          </a:p>
          <a:p>
            <a:pPr marL="12700" marR="6350">
              <a:lnSpc>
                <a:spcPct val="116900"/>
              </a:lnSpc>
              <a:spcBef>
                <a:spcPts val="1005"/>
              </a:spcBef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2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If</a:t>
            </a:r>
            <a:r>
              <a:rPr sz="1600" b="1" spc="2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you</a:t>
            </a:r>
            <a:r>
              <a:rPr sz="1600" b="1" spc="2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want</a:t>
            </a:r>
            <a:r>
              <a:rPr sz="1600" b="1" spc="2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2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analyze</a:t>
            </a:r>
            <a:r>
              <a:rPr sz="1600" b="1" spc="2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how</a:t>
            </a:r>
            <a:r>
              <a:rPr sz="1600" b="1" spc="2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2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location</a:t>
            </a:r>
            <a:r>
              <a:rPr sz="1600" b="1" spc="2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of</a:t>
            </a:r>
            <a:r>
              <a:rPr sz="1600" b="1" spc="2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2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stores</a:t>
            </a:r>
            <a:r>
              <a:rPr sz="1600" b="1" spc="2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affects </a:t>
            </a:r>
            <a:r>
              <a:rPr sz="1600" b="1" dirty="0">
                <a:latin typeface="Calibri"/>
                <a:cs typeface="Calibri"/>
              </a:rPr>
              <a:t>delivery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times,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store’s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city.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Q.A2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5789"/>
            <a:ext cx="5961380" cy="54354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select * from orders</a:t>
            </a: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select * from customers</a:t>
            </a: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select </a:t>
            </a:r>
            <a:r>
              <a:rPr lang="en-US" dirty="0" err="1" smtClean="0">
                <a:latin typeface="Calibri"/>
                <a:cs typeface="Calibri"/>
              </a:rPr>
              <a:t>c.customerid,c,name,sum</a:t>
            </a:r>
            <a:r>
              <a:rPr lang="en-US" dirty="0" smtClean="0">
                <a:latin typeface="Calibri"/>
                <a:cs typeface="Calibri"/>
              </a:rPr>
              <a:t>(</a:t>
            </a:r>
            <a:r>
              <a:rPr lang="en-US" dirty="0" err="1" smtClean="0">
                <a:latin typeface="Calibri"/>
                <a:cs typeface="Calibri"/>
              </a:rPr>
              <a:t>c.totalorders</a:t>
            </a:r>
            <a:r>
              <a:rPr lang="en-US" dirty="0" smtClean="0">
                <a:latin typeface="Calibri"/>
                <a:cs typeface="Calibri"/>
              </a:rPr>
              <a:t>) as </a:t>
            </a:r>
            <a:r>
              <a:rPr lang="en-US" dirty="0" err="1" smtClean="0">
                <a:latin typeface="Calibri"/>
                <a:cs typeface="Calibri"/>
              </a:rPr>
              <a:t>Total_Orders_value</a:t>
            </a:r>
            <a:endParaRPr lang="en-US" dirty="0" smtClean="0">
              <a:latin typeface="Calibri"/>
              <a:cs typeface="Calibri"/>
            </a:endParaRP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from orders o</a:t>
            </a: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join customers c</a:t>
            </a: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on </a:t>
            </a:r>
            <a:r>
              <a:rPr lang="en-US" dirty="0" err="1" smtClean="0">
                <a:latin typeface="Calibri"/>
                <a:cs typeface="Calibri"/>
              </a:rPr>
              <a:t>o.customerid</a:t>
            </a:r>
            <a:r>
              <a:rPr lang="en-US" dirty="0" smtClean="0">
                <a:latin typeface="Calibri"/>
                <a:cs typeface="Calibri"/>
              </a:rPr>
              <a:t>=</a:t>
            </a:r>
            <a:r>
              <a:rPr lang="en-US" dirty="0" err="1" smtClean="0">
                <a:latin typeface="Calibri"/>
                <a:cs typeface="Calibri"/>
              </a:rPr>
              <a:t>c.customerid</a:t>
            </a:r>
            <a:endParaRPr lang="en-US" dirty="0" smtClean="0">
              <a:latin typeface="Calibri"/>
              <a:cs typeface="Calibri"/>
            </a:endParaRP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where </a:t>
            </a:r>
            <a:r>
              <a:rPr lang="en-US" dirty="0" err="1" smtClean="0">
                <a:latin typeface="Calibri"/>
                <a:cs typeface="Calibri"/>
              </a:rPr>
              <a:t>o.status</a:t>
            </a:r>
            <a:r>
              <a:rPr lang="en-US" dirty="0" smtClean="0">
                <a:latin typeface="Calibri"/>
                <a:cs typeface="Calibri"/>
              </a:rPr>
              <a:t>='completed‘</a:t>
            </a: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group by </a:t>
            </a:r>
            <a:r>
              <a:rPr lang="en-US" dirty="0" err="1" smtClean="0">
                <a:latin typeface="Calibri"/>
                <a:cs typeface="Calibri"/>
              </a:rPr>
              <a:t>c.customerid,c.name</a:t>
            </a:r>
            <a:endParaRPr lang="en-US" dirty="0" smtClean="0">
              <a:latin typeface="Calibri"/>
              <a:cs typeface="Calibri"/>
            </a:endParaRP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order by </a:t>
            </a:r>
            <a:r>
              <a:rPr lang="en-US" dirty="0" err="1" smtClean="0">
                <a:latin typeface="Calibri"/>
                <a:cs typeface="Calibri"/>
              </a:rPr>
              <a:t>Total_Orders_Value</a:t>
            </a:r>
            <a:r>
              <a:rPr lang="en-US" dirty="0" smtClean="0">
                <a:latin typeface="Calibri"/>
                <a:cs typeface="Calibri"/>
              </a:rPr>
              <a:t> </a:t>
            </a:r>
            <a:r>
              <a:rPr lang="en-US" dirty="0" err="1" smtClean="0">
                <a:latin typeface="Calibri"/>
                <a:cs typeface="Calibri"/>
              </a:rPr>
              <a:t>desc</a:t>
            </a:r>
            <a:endParaRPr lang="en-US" dirty="0" smtClean="0">
              <a:latin typeface="Calibri"/>
              <a:cs typeface="Calibri"/>
            </a:endParaRP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lang="en-US" dirty="0" smtClean="0">
                <a:latin typeface="Calibri"/>
                <a:cs typeface="Calibri"/>
              </a:rPr>
              <a:t>limit 3;</a:t>
            </a:r>
          </a:p>
          <a:p>
            <a:pPr marL="12700" marR="114300">
              <a:lnSpc>
                <a:spcPct val="116900"/>
              </a:lnSpc>
              <a:spcBef>
                <a:spcPts val="1005"/>
              </a:spcBef>
            </a:pPr>
            <a:r>
              <a:rPr sz="1600" b="1" dirty="0" smtClean="0">
                <a:latin typeface="Calibri"/>
                <a:cs typeface="Calibri"/>
              </a:rPr>
              <a:t>Note</a:t>
            </a:r>
            <a:r>
              <a:rPr sz="1600" b="1" dirty="0">
                <a:latin typeface="Calibri"/>
                <a:cs typeface="Calibri"/>
              </a:rPr>
              <a:t>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This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query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ensures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that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only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completed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contribute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to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total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value.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919481"/>
            <a:ext cx="5787135" cy="7569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Q.A3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5789"/>
            <a:ext cx="5775960" cy="675640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select </a:t>
            </a:r>
            <a:r>
              <a:rPr lang="en-IN" spc="-10" dirty="0" err="1" smtClean="0">
                <a:latin typeface="Calibri"/>
                <a:cs typeface="Calibri"/>
              </a:rPr>
              <a:t>p.productid</a:t>
            </a:r>
            <a:r>
              <a:rPr lang="en-IN" spc="-10" dirty="0" smtClean="0">
                <a:latin typeface="Calibri"/>
                <a:cs typeface="Calibri"/>
              </a:rPr>
              <a:t>,</a:t>
            </a: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err="1" smtClean="0">
                <a:latin typeface="Calibri"/>
                <a:cs typeface="Calibri"/>
              </a:rPr>
              <a:t>p.productname</a:t>
            </a:r>
            <a:r>
              <a:rPr lang="en-IN" spc="-10" dirty="0" smtClean="0">
                <a:latin typeface="Calibri"/>
                <a:cs typeface="Calibri"/>
              </a:rPr>
              <a:t>,</a:t>
            </a: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sum(</a:t>
            </a:r>
            <a:r>
              <a:rPr lang="en-IN" spc="-10" dirty="0" err="1" smtClean="0">
                <a:latin typeface="Calibri"/>
                <a:cs typeface="Calibri"/>
              </a:rPr>
              <a:t>od.quantity</a:t>
            </a:r>
            <a:r>
              <a:rPr lang="en-IN" spc="-10" dirty="0" smtClean="0">
                <a:latin typeface="Calibri"/>
                <a:cs typeface="Calibri"/>
              </a:rPr>
              <a:t>) as </a:t>
            </a:r>
            <a:r>
              <a:rPr lang="en-IN" spc="-10" dirty="0" err="1" smtClean="0">
                <a:latin typeface="Calibri"/>
                <a:cs typeface="Calibri"/>
              </a:rPr>
              <a:t>Total_orders</a:t>
            </a:r>
            <a:endParaRPr lang="en-IN" spc="-10" dirty="0" smtClean="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from </a:t>
            </a:r>
            <a:r>
              <a:rPr lang="en-IN" spc="-10" dirty="0" err="1" smtClean="0">
                <a:latin typeface="Calibri"/>
                <a:cs typeface="Calibri"/>
              </a:rPr>
              <a:t>order_details</a:t>
            </a:r>
            <a:r>
              <a:rPr lang="en-IN" spc="-10" dirty="0" smtClean="0">
                <a:latin typeface="Calibri"/>
                <a:cs typeface="Calibri"/>
              </a:rPr>
              <a:t> od</a:t>
            </a: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join products p</a:t>
            </a: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on </a:t>
            </a:r>
            <a:r>
              <a:rPr lang="en-IN" spc="-10" dirty="0" err="1" smtClean="0">
                <a:latin typeface="Calibri"/>
                <a:cs typeface="Calibri"/>
              </a:rPr>
              <a:t>p.productid</a:t>
            </a:r>
            <a:r>
              <a:rPr lang="en-IN" spc="-10" dirty="0" smtClean="0">
                <a:latin typeface="Calibri"/>
                <a:cs typeface="Calibri"/>
              </a:rPr>
              <a:t>=</a:t>
            </a:r>
            <a:r>
              <a:rPr lang="en-IN" spc="-10" dirty="0" err="1" smtClean="0">
                <a:latin typeface="Calibri"/>
                <a:cs typeface="Calibri"/>
              </a:rPr>
              <a:t>od.productid</a:t>
            </a:r>
            <a:endParaRPr lang="en-IN" spc="-10" dirty="0" smtClean="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join orders o</a:t>
            </a: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on </a:t>
            </a:r>
            <a:r>
              <a:rPr lang="en-IN" spc="-10" dirty="0" err="1" smtClean="0">
                <a:latin typeface="Calibri"/>
                <a:cs typeface="Calibri"/>
              </a:rPr>
              <a:t>od.orderid</a:t>
            </a:r>
            <a:r>
              <a:rPr lang="en-IN" spc="-10" dirty="0" smtClean="0">
                <a:latin typeface="Calibri"/>
                <a:cs typeface="Calibri"/>
              </a:rPr>
              <a:t>=</a:t>
            </a:r>
            <a:r>
              <a:rPr lang="en-IN" spc="-10" dirty="0" err="1" smtClean="0">
                <a:latin typeface="Calibri"/>
                <a:cs typeface="Calibri"/>
              </a:rPr>
              <a:t>o.orderid</a:t>
            </a:r>
            <a:endParaRPr lang="en-IN" spc="-10" dirty="0" smtClean="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join stores s on </a:t>
            </a:r>
            <a:r>
              <a:rPr lang="en-IN" spc="-10" dirty="0" err="1" smtClean="0">
                <a:latin typeface="Calibri"/>
                <a:cs typeface="Calibri"/>
              </a:rPr>
              <a:t>s.storeid</a:t>
            </a:r>
            <a:r>
              <a:rPr lang="en-IN" spc="-10" dirty="0" smtClean="0">
                <a:latin typeface="Calibri"/>
                <a:cs typeface="Calibri"/>
              </a:rPr>
              <a:t>=</a:t>
            </a:r>
            <a:r>
              <a:rPr lang="en-IN" spc="-10" dirty="0" err="1" smtClean="0">
                <a:latin typeface="Calibri"/>
                <a:cs typeface="Calibri"/>
              </a:rPr>
              <a:t>o.storeid</a:t>
            </a:r>
            <a:endParaRPr lang="en-IN" spc="-10" dirty="0" smtClean="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where </a:t>
            </a:r>
            <a:r>
              <a:rPr lang="en-IN" spc="-10" dirty="0" err="1" smtClean="0">
                <a:latin typeface="Calibri"/>
                <a:cs typeface="Calibri"/>
              </a:rPr>
              <a:t>s.city</a:t>
            </a:r>
            <a:r>
              <a:rPr lang="en-IN" spc="-10" dirty="0" smtClean="0">
                <a:latin typeface="Calibri"/>
                <a:cs typeface="Calibri"/>
              </a:rPr>
              <a:t>='</a:t>
            </a:r>
            <a:r>
              <a:rPr lang="en-IN" spc="-10" dirty="0" err="1" smtClean="0">
                <a:latin typeface="Calibri"/>
                <a:cs typeface="Calibri"/>
              </a:rPr>
              <a:t>mumbai</a:t>
            </a:r>
            <a:r>
              <a:rPr lang="en-IN" spc="-10" dirty="0" smtClean="0">
                <a:latin typeface="Calibri"/>
                <a:cs typeface="Calibri"/>
              </a:rPr>
              <a:t>‘</a:t>
            </a: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group by </a:t>
            </a:r>
            <a:r>
              <a:rPr lang="en-IN" spc="-10" dirty="0" err="1" smtClean="0">
                <a:latin typeface="Calibri"/>
                <a:cs typeface="Calibri"/>
              </a:rPr>
              <a:t>p.productid,p.productname</a:t>
            </a:r>
            <a:endParaRPr lang="en-IN" spc="-10" dirty="0" smtClean="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order by </a:t>
            </a:r>
            <a:r>
              <a:rPr lang="en-IN" spc="-10" dirty="0" err="1" smtClean="0">
                <a:latin typeface="Calibri"/>
                <a:cs typeface="Calibri"/>
              </a:rPr>
              <a:t>Total_orders</a:t>
            </a:r>
            <a:r>
              <a:rPr lang="en-IN" spc="-10" dirty="0" smtClean="0">
                <a:latin typeface="Calibri"/>
                <a:cs typeface="Calibri"/>
              </a:rPr>
              <a:t> </a:t>
            </a:r>
            <a:r>
              <a:rPr lang="en-IN" spc="-10" dirty="0" err="1" smtClean="0">
                <a:latin typeface="Calibri"/>
                <a:cs typeface="Calibri"/>
              </a:rPr>
              <a:t>desc</a:t>
            </a:r>
            <a:endParaRPr lang="en-IN" spc="-10" dirty="0" smtClean="0">
              <a:latin typeface="Calibri"/>
              <a:cs typeface="Calibri"/>
            </a:endParaRP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lang="en-IN" spc="-10" dirty="0" smtClean="0">
                <a:latin typeface="Calibri"/>
                <a:cs typeface="Calibri"/>
              </a:rPr>
              <a:t>limit 3;</a:t>
            </a:r>
          </a:p>
          <a:p>
            <a:pPr marL="12700" marR="5080">
              <a:lnSpc>
                <a:spcPct val="117200"/>
              </a:lnSpc>
              <a:spcBef>
                <a:spcPts val="990"/>
              </a:spcBef>
            </a:pPr>
            <a:r>
              <a:rPr sz="1600" b="1" spc="-10" dirty="0" smtClean="0">
                <a:latin typeface="Calibri"/>
                <a:cs typeface="Calibri"/>
              </a:rPr>
              <a:t>Note</a:t>
            </a:r>
            <a:r>
              <a:rPr sz="1600" b="1" spc="-10" dirty="0">
                <a:latin typeface="Calibri"/>
                <a:cs typeface="Calibri"/>
              </a:rPr>
              <a:t>:</a:t>
            </a:r>
            <a:r>
              <a:rPr sz="1600" b="1" spc="-1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This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query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assumes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that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all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tables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(OrderDetails,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Products, Orders,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Stores)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have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necessary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foreign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key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relationships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and </a:t>
            </a: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support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joins.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Q.A4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2004" y="1875789"/>
            <a:ext cx="5824220" cy="61360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spc="-20" dirty="0"/>
              <a:t>select * </a:t>
            </a:r>
            <a:r>
              <a:rPr lang="en-IN" sz="1800" spc="-20" dirty="0" smtClean="0"/>
              <a:t> from customers</a:t>
            </a:r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select </a:t>
            </a:r>
            <a:r>
              <a:rPr lang="en-IN" sz="1800" spc="-20" dirty="0"/>
              <a:t>* </a:t>
            </a:r>
            <a:r>
              <a:rPr lang="en-IN" sz="1800" spc="-20" dirty="0" smtClean="0"/>
              <a:t> from orders</a:t>
            </a:r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select </a:t>
            </a:r>
            <a:r>
              <a:rPr lang="en-IN" sz="1800" spc="-20" dirty="0"/>
              <a:t>count(distinct </a:t>
            </a:r>
            <a:r>
              <a:rPr lang="en-IN" sz="1800" spc="-20" dirty="0" err="1"/>
              <a:t>customerid</a:t>
            </a:r>
            <a:r>
              <a:rPr lang="en-IN" sz="1800" spc="-20" dirty="0"/>
              <a:t>) as </a:t>
            </a:r>
            <a:endParaRPr lang="en-IN" sz="1800" spc="-20" dirty="0" smtClean="0"/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customer_not_ordered_in_last_30_days</a:t>
            </a:r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from </a:t>
            </a:r>
            <a:r>
              <a:rPr lang="en-IN" sz="1800" spc="-20" dirty="0"/>
              <a:t>customers </a:t>
            </a:r>
            <a:r>
              <a:rPr lang="en-IN" sz="1800" spc="-20" dirty="0" smtClean="0"/>
              <a:t>c</a:t>
            </a:r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left </a:t>
            </a:r>
            <a:r>
              <a:rPr lang="en-IN" sz="1800" spc="-20" dirty="0"/>
              <a:t>join orders </a:t>
            </a:r>
            <a:r>
              <a:rPr lang="en-IN" sz="1800" spc="-20" dirty="0" smtClean="0"/>
              <a:t>o</a:t>
            </a:r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on </a:t>
            </a:r>
            <a:r>
              <a:rPr lang="en-IN" sz="1800" spc="-20" dirty="0" err="1"/>
              <a:t>c.customerid</a:t>
            </a:r>
            <a:r>
              <a:rPr lang="en-IN" sz="1800" spc="-20" dirty="0"/>
              <a:t>=</a:t>
            </a:r>
            <a:r>
              <a:rPr lang="en-IN" sz="1800" spc="-20" dirty="0" err="1"/>
              <a:t>o.customerid</a:t>
            </a:r>
            <a:r>
              <a:rPr lang="en-IN" sz="1800" spc="-20" dirty="0"/>
              <a:t> </a:t>
            </a:r>
            <a:endParaRPr lang="en-IN" sz="1800" spc="-20" dirty="0" smtClean="0"/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and </a:t>
            </a:r>
            <a:r>
              <a:rPr lang="en-IN" sz="1800" spc="-20" dirty="0" err="1"/>
              <a:t>o.status</a:t>
            </a:r>
            <a:r>
              <a:rPr lang="en-IN" sz="1800" spc="-20" dirty="0"/>
              <a:t>=</a:t>
            </a:r>
            <a:r>
              <a:rPr lang="en-IN" sz="1800" spc="-20" dirty="0" smtClean="0"/>
              <a:t>'completed‘</a:t>
            </a:r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and </a:t>
            </a:r>
            <a:r>
              <a:rPr lang="en-IN" sz="1800" spc="-20" dirty="0" err="1"/>
              <a:t>o.orderdate</a:t>
            </a:r>
            <a:r>
              <a:rPr lang="en-IN" sz="1800" spc="-20" dirty="0"/>
              <a:t>&gt;=</a:t>
            </a:r>
            <a:r>
              <a:rPr lang="en-IN" sz="1800" spc="-20" dirty="0" err="1"/>
              <a:t>date_sub</a:t>
            </a:r>
            <a:r>
              <a:rPr lang="en-IN" sz="1800" spc="-20" dirty="0"/>
              <a:t>(</a:t>
            </a:r>
            <a:r>
              <a:rPr lang="en-IN" sz="1800" spc="-20" dirty="0" err="1"/>
              <a:t>curdate</a:t>
            </a:r>
            <a:r>
              <a:rPr lang="en-IN" sz="1800" spc="-20" dirty="0"/>
              <a:t>(),interval 30 day</a:t>
            </a:r>
            <a:r>
              <a:rPr lang="en-IN" sz="1800" spc="-20" dirty="0" smtClean="0"/>
              <a:t>)</a:t>
            </a:r>
          </a:p>
          <a:p>
            <a:pPr>
              <a:lnSpc>
                <a:spcPct val="100000"/>
              </a:lnSpc>
            </a:pPr>
            <a:endParaRPr lang="en-IN" sz="1800" spc="-20" dirty="0" smtClean="0"/>
          </a:p>
          <a:p>
            <a:pPr>
              <a:lnSpc>
                <a:spcPct val="100000"/>
              </a:lnSpc>
            </a:pPr>
            <a:r>
              <a:rPr lang="en-IN" sz="1800" spc="-20" dirty="0" smtClean="0"/>
              <a:t>where </a:t>
            </a:r>
            <a:r>
              <a:rPr lang="en-IN" sz="1800" spc="-20" dirty="0" err="1"/>
              <a:t>o.orderid</a:t>
            </a:r>
            <a:r>
              <a:rPr lang="en-IN" sz="1800" spc="-20" dirty="0"/>
              <a:t> is null;</a:t>
            </a:r>
            <a:endParaRPr sz="1800" spc="-20" dirty="0"/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pc="-20" dirty="0"/>
          </a:p>
          <a:p>
            <a:pPr marL="12700" marR="65405">
              <a:lnSpc>
                <a:spcPct val="116900"/>
              </a:lnSpc>
              <a:spcBef>
                <a:spcPts val="5"/>
              </a:spcBef>
            </a:pPr>
            <a:r>
              <a:rPr b="1" dirty="0">
                <a:latin typeface="Calibri"/>
                <a:cs typeface="Calibri"/>
              </a:rPr>
              <a:t>Note: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This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querry</a:t>
            </a:r>
            <a:r>
              <a:rPr b="1" spc="-1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counts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customers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with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no</a:t>
            </a:r>
            <a:r>
              <a:rPr b="1" spc="-2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completed</a:t>
            </a:r>
            <a:r>
              <a:rPr b="1" spc="-3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orders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in</a:t>
            </a:r>
            <a:r>
              <a:rPr b="1" spc="-20" dirty="0">
                <a:latin typeface="Calibri"/>
                <a:cs typeface="Calibri"/>
              </a:rPr>
              <a:t> </a:t>
            </a:r>
            <a:r>
              <a:rPr b="1" spc="-25" dirty="0">
                <a:latin typeface="Calibri"/>
                <a:cs typeface="Calibri"/>
              </a:rPr>
              <a:t>the </a:t>
            </a:r>
            <a:r>
              <a:rPr b="1" dirty="0">
                <a:latin typeface="Calibri"/>
                <a:cs typeface="Calibri"/>
              </a:rPr>
              <a:t>last</a:t>
            </a:r>
            <a:r>
              <a:rPr b="1" spc="-30" dirty="0">
                <a:latin typeface="Calibri"/>
                <a:cs typeface="Calibri"/>
              </a:rPr>
              <a:t> </a:t>
            </a:r>
            <a:r>
              <a:rPr b="1" dirty="0">
                <a:latin typeface="Calibri"/>
                <a:cs typeface="Calibri"/>
              </a:rPr>
              <a:t>30</a:t>
            </a:r>
            <a:r>
              <a:rPr b="1" spc="-20" dirty="0">
                <a:latin typeface="Calibri"/>
                <a:cs typeface="Calibri"/>
              </a:rPr>
              <a:t>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Q.A5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5789"/>
            <a:ext cx="5908675" cy="502804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select * from stores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select * from orders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select </a:t>
            </a:r>
            <a:r>
              <a:rPr lang="en-IN" dirty="0" err="1" smtClean="0">
                <a:latin typeface="Calibri"/>
                <a:cs typeface="Calibri"/>
              </a:rPr>
              <a:t>s.storeid</a:t>
            </a:r>
            <a:r>
              <a:rPr lang="en-IN" dirty="0" smtClean="0">
                <a:latin typeface="Calibri"/>
                <a:cs typeface="Calibri"/>
              </a:rPr>
              <a:t>,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err="1" smtClean="0">
                <a:latin typeface="Calibri"/>
                <a:cs typeface="Calibri"/>
              </a:rPr>
              <a:t>s.city,s.area,coalesce</a:t>
            </a:r>
            <a:r>
              <a:rPr lang="en-IN" dirty="0" smtClean="0">
                <a:latin typeface="Calibri"/>
                <a:cs typeface="Calibri"/>
              </a:rPr>
              <a:t>(sum(</a:t>
            </a:r>
            <a:r>
              <a:rPr lang="en-IN" dirty="0" err="1" smtClean="0">
                <a:latin typeface="Calibri"/>
                <a:cs typeface="Calibri"/>
              </a:rPr>
              <a:t>o.totalamount</a:t>
            </a:r>
            <a:r>
              <a:rPr lang="en-IN" dirty="0" smtClean="0">
                <a:latin typeface="Calibri"/>
                <a:cs typeface="Calibri"/>
              </a:rPr>
              <a:t>),0)  as </a:t>
            </a:r>
            <a:r>
              <a:rPr lang="en-IN" dirty="0" err="1" smtClean="0">
                <a:latin typeface="Calibri"/>
                <a:cs typeface="Calibri"/>
              </a:rPr>
              <a:t>Total_revenue</a:t>
            </a:r>
            <a:r>
              <a:rPr lang="en-IN" dirty="0" smtClean="0">
                <a:latin typeface="Calibri"/>
                <a:cs typeface="Calibri"/>
              </a:rPr>
              <a:t> 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from stores s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left join orders o</a:t>
            </a: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on </a:t>
            </a:r>
            <a:r>
              <a:rPr lang="en-IN" dirty="0" err="1" smtClean="0">
                <a:latin typeface="Calibri"/>
                <a:cs typeface="Calibri"/>
              </a:rPr>
              <a:t>s.storeid</a:t>
            </a:r>
            <a:r>
              <a:rPr lang="en-IN" dirty="0" smtClean="0">
                <a:latin typeface="Calibri"/>
                <a:cs typeface="Calibri"/>
              </a:rPr>
              <a:t>=</a:t>
            </a:r>
            <a:r>
              <a:rPr lang="en-IN" dirty="0" err="1" smtClean="0">
                <a:latin typeface="Calibri"/>
                <a:cs typeface="Calibri"/>
              </a:rPr>
              <a:t>o.storeid</a:t>
            </a: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lang="en-IN" dirty="0" smtClean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en-IN" dirty="0" smtClean="0">
                <a:latin typeface="Calibri"/>
                <a:cs typeface="Calibri"/>
              </a:rPr>
              <a:t>group by </a:t>
            </a:r>
            <a:r>
              <a:rPr lang="en-IN" dirty="0" err="1" smtClean="0">
                <a:latin typeface="Calibri"/>
                <a:cs typeface="Calibri"/>
              </a:rPr>
              <a:t>s.storeid,s.city,s.area</a:t>
            </a:r>
            <a:r>
              <a:rPr lang="en-IN" dirty="0" smtClean="0">
                <a:latin typeface="Calibri"/>
                <a:cs typeface="Calibri"/>
              </a:rPr>
              <a:t>;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16900"/>
              </a:lnSpc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Used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left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join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coalesce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ensure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that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all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stores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included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result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set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total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revenue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set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0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stores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with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orders.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Q.B1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5789"/>
            <a:ext cx="5718175" cy="54766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select * from customers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select * from orders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select </a:t>
            </a:r>
            <a:r>
              <a:rPr lang="en-IN" dirty="0" err="1" smtClean="0">
                <a:latin typeface="Calibri"/>
                <a:cs typeface="Calibri"/>
              </a:rPr>
              <a:t>c.customerid</a:t>
            </a:r>
            <a:r>
              <a:rPr lang="en-IN" dirty="0" smtClean="0">
                <a:latin typeface="Calibri"/>
                <a:cs typeface="Calibri"/>
              </a:rPr>
              <a:t>,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c.name from customers c</a:t>
            </a:r>
            <a:br>
              <a:rPr lang="en-IN" dirty="0" smtClean="0">
                <a:latin typeface="Calibri"/>
                <a:cs typeface="Calibri"/>
              </a:rPr>
            </a:br>
            <a:endParaRPr lang="en-IN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where </a:t>
            </a:r>
            <a:r>
              <a:rPr lang="en-IN" dirty="0" err="1" smtClean="0">
                <a:latin typeface="Calibri"/>
                <a:cs typeface="Calibri"/>
              </a:rPr>
              <a:t>c.totalorders</a:t>
            </a:r>
            <a:r>
              <a:rPr lang="en-IN" dirty="0" smtClean="0">
                <a:latin typeface="Calibri"/>
                <a:cs typeface="Calibri"/>
              </a:rPr>
              <a:t>=1 and </a:t>
            </a:r>
            <a:r>
              <a:rPr lang="en-IN" dirty="0" err="1" smtClean="0">
                <a:latin typeface="Calibri"/>
                <a:cs typeface="Calibri"/>
              </a:rPr>
              <a:t>c.customerid</a:t>
            </a:r>
            <a:r>
              <a:rPr lang="en-IN" dirty="0" smtClean="0">
                <a:latin typeface="Calibri"/>
                <a:cs typeface="Calibri"/>
              </a:rPr>
              <a:t> IN (select </a:t>
            </a:r>
            <a:r>
              <a:rPr lang="en-IN" dirty="0" err="1" smtClean="0">
                <a:latin typeface="Calibri"/>
                <a:cs typeface="Calibri"/>
              </a:rPr>
              <a:t>o.customerid</a:t>
            </a:r>
            <a:r>
              <a:rPr lang="en-IN" dirty="0" smtClean="0">
                <a:latin typeface="Calibri"/>
                <a:cs typeface="Calibri"/>
              </a:rPr>
              <a:t> 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from orders o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where </a:t>
            </a:r>
            <a:r>
              <a:rPr lang="en-IN" dirty="0" err="1" smtClean="0">
                <a:latin typeface="Calibri"/>
                <a:cs typeface="Calibri"/>
              </a:rPr>
              <a:t>o.orderdate</a:t>
            </a:r>
            <a:r>
              <a:rPr lang="en-IN" dirty="0" smtClean="0">
                <a:latin typeface="Calibri"/>
                <a:cs typeface="Calibri"/>
              </a:rPr>
              <a:t>&gt;=</a:t>
            </a:r>
            <a:r>
              <a:rPr lang="en-IN" dirty="0" err="1" smtClean="0">
                <a:latin typeface="Calibri"/>
                <a:cs typeface="Calibri"/>
              </a:rPr>
              <a:t>date_sub</a:t>
            </a:r>
            <a:r>
              <a:rPr lang="en-IN" dirty="0" smtClean="0">
                <a:latin typeface="Calibri"/>
                <a:cs typeface="Calibri"/>
              </a:rPr>
              <a:t>(</a:t>
            </a:r>
            <a:r>
              <a:rPr lang="en-IN" dirty="0" err="1" smtClean="0">
                <a:latin typeface="Calibri"/>
                <a:cs typeface="Calibri"/>
              </a:rPr>
              <a:t>curdate</a:t>
            </a:r>
            <a:r>
              <a:rPr lang="en-IN" dirty="0" smtClean="0">
                <a:latin typeface="Calibri"/>
                <a:cs typeface="Calibri"/>
              </a:rPr>
              <a:t>(),interval 3 month)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IN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 smtClean="0">
                <a:latin typeface="Calibri"/>
                <a:cs typeface="Calibri"/>
              </a:rPr>
              <a:t>and </a:t>
            </a:r>
            <a:r>
              <a:rPr lang="en-IN" dirty="0" err="1" smtClean="0">
                <a:latin typeface="Calibri"/>
                <a:cs typeface="Calibri"/>
              </a:rPr>
              <a:t>o.status</a:t>
            </a:r>
            <a:r>
              <a:rPr lang="en-IN" dirty="0" smtClean="0">
                <a:latin typeface="Calibri"/>
                <a:cs typeface="Calibri"/>
              </a:rPr>
              <a:t>='completed');</a:t>
            </a:r>
            <a:r>
              <a:rPr sz="1600" dirty="0">
                <a:latin typeface="Calibri"/>
                <a:cs typeface="Calibri"/>
              </a:rPr>
              <a:t>	</a:t>
            </a: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600" dirty="0">
              <a:latin typeface="Calibri"/>
              <a:cs typeface="Calibri"/>
            </a:endParaRPr>
          </a:p>
          <a:p>
            <a:pPr marL="12700" marR="110489">
              <a:lnSpc>
                <a:spcPct val="117500"/>
              </a:lnSpc>
              <a:spcBef>
                <a:spcPts val="5"/>
              </a:spcBef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TotalOrders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only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count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valid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orders(completed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one)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avoid </a:t>
            </a:r>
            <a:r>
              <a:rPr sz="1600" b="1" dirty="0">
                <a:latin typeface="Calibri"/>
                <a:cs typeface="Calibri"/>
              </a:rPr>
              <a:t>misleading</a:t>
            </a:r>
            <a:r>
              <a:rPr sz="1600" b="1" spc="-8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results.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Q.B2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902004" y="1875789"/>
            <a:ext cx="5824220" cy="57522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/>
              <a:t>select * from </a:t>
            </a:r>
            <a:r>
              <a:rPr lang="en-US" sz="1800" spc="-10" dirty="0" smtClean="0"/>
              <a:t>customers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smtClean="0"/>
              <a:t>select </a:t>
            </a:r>
            <a:r>
              <a:rPr lang="en-US" sz="1800" spc="-10" dirty="0" err="1"/>
              <a:t>c.city</a:t>
            </a:r>
            <a:r>
              <a:rPr lang="en-US" sz="1800" spc="-10" dirty="0" smtClean="0"/>
              <a:t>,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smtClean="0"/>
              <a:t>count(</a:t>
            </a:r>
            <a:r>
              <a:rPr lang="en-US" sz="1800" spc="-10" dirty="0" err="1" smtClean="0"/>
              <a:t>c.customerid</a:t>
            </a:r>
            <a:r>
              <a:rPr lang="en-US" sz="1800" spc="-10" dirty="0"/>
              <a:t>) as </a:t>
            </a:r>
            <a:r>
              <a:rPr lang="en-US" sz="1800" spc="-10" dirty="0" err="1"/>
              <a:t>totalcustomers</a:t>
            </a:r>
            <a:r>
              <a:rPr lang="en-US" sz="1800" spc="-10" dirty="0" smtClean="0"/>
              <a:t>,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smtClean="0"/>
              <a:t>sum(case </a:t>
            </a:r>
            <a:r>
              <a:rPr lang="en-US" sz="1800" spc="-10" dirty="0"/>
              <a:t>when </a:t>
            </a:r>
            <a:r>
              <a:rPr lang="en-US" sz="1800" spc="-10" dirty="0" err="1"/>
              <a:t>c.totalorders</a:t>
            </a:r>
            <a:r>
              <a:rPr lang="en-US" sz="1800" spc="-10" dirty="0"/>
              <a:t>=1 then 1 else 0 end) as </a:t>
            </a: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err="1" smtClean="0"/>
              <a:t>single_order_customers</a:t>
            </a:r>
            <a:r>
              <a:rPr lang="en-US" sz="1800" spc="-10" dirty="0" smtClean="0"/>
              <a:t>,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smtClean="0"/>
              <a:t>(</a:t>
            </a:r>
            <a:r>
              <a:rPr lang="en-US" sz="1800" spc="-10" dirty="0"/>
              <a:t>sum(case when </a:t>
            </a:r>
            <a:r>
              <a:rPr lang="en-US" sz="1800" spc="-10" dirty="0" err="1"/>
              <a:t>c.totalorders</a:t>
            </a:r>
            <a:r>
              <a:rPr lang="en-US" sz="1800" spc="-10" dirty="0"/>
              <a:t>=1 then 1 else 0 end)/count(</a:t>
            </a:r>
            <a:r>
              <a:rPr lang="en-US" sz="1800" spc="-10" dirty="0" err="1"/>
              <a:t>c.customerid</a:t>
            </a:r>
            <a:r>
              <a:rPr lang="en-US" sz="1800" spc="-10" dirty="0"/>
              <a:t>))* 100 as </a:t>
            </a: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err="1" smtClean="0"/>
              <a:t>percentage_single_order_customers</a:t>
            </a: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smtClean="0"/>
              <a:t>from </a:t>
            </a:r>
            <a:r>
              <a:rPr lang="en-US" sz="1800" spc="-10" dirty="0"/>
              <a:t>customers </a:t>
            </a:r>
            <a:r>
              <a:rPr lang="en-US" sz="1800" spc="-10" dirty="0" smtClean="0"/>
              <a:t>c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smtClean="0"/>
              <a:t>group </a:t>
            </a:r>
            <a:r>
              <a:rPr lang="en-US" sz="1800" spc="-10" dirty="0"/>
              <a:t>by </a:t>
            </a:r>
            <a:r>
              <a:rPr lang="en-US" sz="1800" spc="-10" dirty="0" err="1"/>
              <a:t>c.cityorder</a:t>
            </a:r>
            <a:r>
              <a:rPr lang="en-US" sz="1800" spc="-10" dirty="0"/>
              <a:t> by </a:t>
            </a:r>
            <a:r>
              <a:rPr lang="en-US" sz="1800" spc="-10" dirty="0" err="1" smtClean="0"/>
              <a:t>percentage_single_order</a:t>
            </a: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1800" spc="-10" dirty="0" smtClean="0"/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800" spc="-10" dirty="0" smtClean="0"/>
              <a:t>Order by customers </a:t>
            </a:r>
            <a:r>
              <a:rPr lang="en-US" sz="1800" spc="-10" dirty="0" err="1"/>
              <a:t>desc</a:t>
            </a:r>
            <a:r>
              <a:rPr lang="en-US" sz="1800" spc="-10" dirty="0" smtClean="0"/>
              <a:t>;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10" dirty="0"/>
          </a:p>
        </p:txBody>
      </p:sp>
      <p:sp>
        <p:nvSpPr>
          <p:cNvPr id="6" name="object 6"/>
          <p:cNvSpPr txBox="1"/>
          <p:nvPr/>
        </p:nvSpPr>
        <p:spPr>
          <a:xfrm>
            <a:off x="902004" y="6981825"/>
            <a:ext cx="5714365" cy="11466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6900"/>
              </a:lnSpc>
              <a:spcBef>
                <a:spcPts val="1010"/>
              </a:spcBef>
            </a:pPr>
            <a:r>
              <a:rPr sz="1600" b="1" dirty="0" smtClean="0">
                <a:latin typeface="Calibri"/>
                <a:cs typeface="Calibri"/>
              </a:rPr>
              <a:t>Summary</a:t>
            </a:r>
            <a:r>
              <a:rPr sz="1600" b="1" dirty="0">
                <a:latin typeface="Calibri"/>
                <a:cs typeface="Calibri"/>
              </a:rPr>
              <a:t>: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given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dataset</a:t>
            </a:r>
            <a:r>
              <a:rPr sz="1600" b="1" spc="-9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Mumbai,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Bangalore,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Pune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have</a:t>
            </a:r>
            <a:r>
              <a:rPr sz="1600" b="1" spc="-25" dirty="0">
                <a:latin typeface="Calibri"/>
                <a:cs typeface="Calibri"/>
              </a:rPr>
              <a:t> no </a:t>
            </a:r>
            <a:r>
              <a:rPr sz="1600" b="1" dirty="0">
                <a:latin typeface="Calibri"/>
                <a:cs typeface="Calibri"/>
              </a:rPr>
              <a:t>single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customers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whereas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Delhi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100%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single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order customer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percentage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due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Charlie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Brown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being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only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customer </a:t>
            </a:r>
            <a:r>
              <a:rPr sz="1600" b="1" dirty="0">
                <a:latin typeface="Calibri"/>
                <a:cs typeface="Calibri"/>
              </a:rPr>
              <a:t>with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single</a:t>
            </a:r>
            <a:r>
              <a:rPr sz="1600" b="1" spc="-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order.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Q.B3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21535"/>
            <a:ext cx="5942330" cy="5200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17550" algn="just">
              <a:lnSpc>
                <a:spcPct val="117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Key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features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build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customer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churn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prediction model:</a:t>
            </a:r>
            <a:endParaRPr sz="2000">
              <a:latin typeface="Calibri"/>
              <a:cs typeface="Calibri"/>
            </a:endParaRPr>
          </a:p>
          <a:p>
            <a:pPr marL="469265" marR="279400" indent="-228600" algn="just">
              <a:lnSpc>
                <a:spcPct val="117300"/>
              </a:lnSpc>
              <a:spcBef>
                <a:spcPts val="117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b="1" spc="-20" dirty="0">
                <a:latin typeface="Calibri"/>
                <a:cs typeface="Calibri"/>
              </a:rPr>
              <a:t>Total</a:t>
            </a:r>
            <a:r>
              <a:rPr sz="1600" b="1" spc="-6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Orders: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very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careful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having fewer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risk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by </a:t>
            </a:r>
            <a:r>
              <a:rPr sz="1600" dirty="0">
                <a:latin typeface="Calibri"/>
                <a:cs typeface="Calibri"/>
              </a:rPr>
              <a:t>tracking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insight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 marL="469265" algn="just">
              <a:lnSpc>
                <a:spcPct val="100000"/>
              </a:lnSpc>
              <a:spcBef>
                <a:spcPts val="325"/>
              </a:spcBef>
            </a:pPr>
            <a:r>
              <a:rPr sz="1600" spc="-10" dirty="0">
                <a:latin typeface="Calibri"/>
                <a:cs typeface="Calibri"/>
              </a:rPr>
              <a:t>engagement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customer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service.</a:t>
            </a:r>
            <a:endParaRPr sz="1600">
              <a:latin typeface="Calibri"/>
              <a:cs typeface="Calibri"/>
            </a:endParaRPr>
          </a:p>
          <a:p>
            <a:pPr marL="469265" marR="5080" indent="-228600">
              <a:lnSpc>
                <a:spcPct val="1171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Last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Date: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very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useful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if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made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might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more </a:t>
            </a:r>
            <a:r>
              <a:rPr sz="1600" dirty="0">
                <a:latin typeface="Calibri"/>
                <a:cs typeface="Calibri"/>
              </a:rPr>
              <a:t>likely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help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determine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has </a:t>
            </a:r>
            <a:r>
              <a:rPr sz="1600" dirty="0">
                <a:latin typeface="Calibri"/>
                <a:cs typeface="Calibri"/>
              </a:rPr>
              <a:t>been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interaction.</a:t>
            </a:r>
            <a:endParaRPr sz="1600">
              <a:latin typeface="Calibri"/>
              <a:cs typeface="Calibri"/>
            </a:endParaRPr>
          </a:p>
          <a:p>
            <a:pPr marL="469265" marR="52069" indent="-228600">
              <a:lnSpc>
                <a:spcPct val="1169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Status: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important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analyze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status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(e.g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completed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cancelled).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number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cancelled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status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might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indicate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dissatisfaction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can </a:t>
            </a:r>
            <a:r>
              <a:rPr sz="1600" dirty="0">
                <a:latin typeface="Calibri"/>
                <a:cs typeface="Calibri"/>
              </a:rPr>
              <a:t>lead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tracking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percentage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status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either</a:t>
            </a:r>
            <a:endParaRPr sz="16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Calibri"/>
                <a:cs typeface="Calibri"/>
              </a:rPr>
              <a:t>completed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cancelled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prediction.</a:t>
            </a:r>
            <a:endParaRPr sz="1600">
              <a:latin typeface="Calibri"/>
              <a:cs typeface="Calibri"/>
            </a:endParaRPr>
          </a:p>
          <a:p>
            <a:pPr marL="469265" marR="20955" indent="-228600">
              <a:lnSpc>
                <a:spcPct val="1169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Frequency: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Frequency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could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important </a:t>
            </a:r>
            <a:r>
              <a:rPr sz="1600" dirty="0">
                <a:latin typeface="Calibri"/>
                <a:cs typeface="Calibri"/>
              </a:rPr>
              <a:t>role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churn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analysis.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Q.B4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2742"/>
            <a:ext cx="5897245" cy="664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Calibri"/>
                <a:cs typeface="Calibri"/>
              </a:rPr>
              <a:t>Strategies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improve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customer</a:t>
            </a:r>
            <a:r>
              <a:rPr sz="2000" b="1" spc="-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retention:</a:t>
            </a:r>
            <a:endParaRPr sz="2000">
              <a:latin typeface="Calibri"/>
              <a:cs typeface="Calibri"/>
            </a:endParaRPr>
          </a:p>
          <a:p>
            <a:pPr marL="469265" marR="151765" indent="-228600">
              <a:lnSpc>
                <a:spcPct val="116900"/>
              </a:lnSpc>
              <a:spcBef>
                <a:spcPts val="1590"/>
              </a:spcBef>
              <a:buSzPct val="125000"/>
              <a:buFont typeface="Symbol"/>
              <a:buChar char=""/>
              <a:tabLst>
                <a:tab pos="469265" algn="l"/>
              </a:tabLst>
            </a:pPr>
            <a:r>
              <a:rPr sz="1600" spc="-10" dirty="0">
                <a:latin typeface="Calibri"/>
                <a:cs typeface="Calibri"/>
              </a:rPr>
              <a:t>After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identifying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placed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10" dirty="0">
                <a:latin typeface="Calibri"/>
                <a:cs typeface="Calibri"/>
              </a:rPr>
              <a:t> order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14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days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create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various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activities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target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bring</a:t>
            </a:r>
            <a:endParaRPr sz="1600">
              <a:latin typeface="Calibri"/>
              <a:cs typeface="Calibri"/>
            </a:endParaRPr>
          </a:p>
          <a:p>
            <a:pPr marL="469265" marR="130175">
              <a:lnSpc>
                <a:spcPct val="1169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them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back,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activities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emails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or </a:t>
            </a:r>
            <a:r>
              <a:rPr sz="1600" spc="-10" dirty="0">
                <a:latin typeface="Calibri"/>
                <a:cs typeface="Calibri"/>
              </a:rPr>
              <a:t>notifications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special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offers,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recommend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keep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eye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activities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blinkit’s</a:t>
            </a:r>
            <a:endParaRPr sz="16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35"/>
              </a:spcBef>
            </a:pPr>
            <a:r>
              <a:rPr sz="1600" spc="-10" dirty="0">
                <a:latin typeface="Calibri"/>
                <a:cs typeface="Calibri"/>
              </a:rPr>
              <a:t>website,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look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most.</a:t>
            </a:r>
            <a:endParaRPr sz="1600">
              <a:latin typeface="Calibri"/>
              <a:cs typeface="Calibri"/>
            </a:endParaRPr>
          </a:p>
          <a:p>
            <a:pPr marL="469265" marR="29845" indent="-228600">
              <a:lnSpc>
                <a:spcPct val="116900"/>
              </a:lnSpc>
              <a:spcBef>
                <a:spcPts val="490"/>
              </a:spcBef>
              <a:buSzPct val="125000"/>
              <a:buFont typeface="Symbol"/>
              <a:buChar char=""/>
              <a:tabLst>
                <a:tab pos="469265" algn="l"/>
              </a:tabLst>
            </a:pPr>
            <a:r>
              <a:rPr sz="1600" spc="-10" dirty="0">
                <a:latin typeface="Calibri"/>
                <a:cs typeface="Calibri"/>
              </a:rPr>
              <a:t>Perform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various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various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like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segregate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purchase frequencies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deep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insights </a:t>
            </a:r>
            <a:r>
              <a:rPr sz="1600" dirty="0">
                <a:latin typeface="Calibri"/>
                <a:cs typeface="Calibri"/>
              </a:rPr>
              <a:t>about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activity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take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necessary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 </a:t>
            </a:r>
            <a:r>
              <a:rPr sz="1600" dirty="0">
                <a:latin typeface="Calibri"/>
                <a:cs typeface="Calibri"/>
              </a:rPr>
              <a:t>becoming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inactive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long.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inefficiencies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</a:t>
            </a:r>
            <a:endParaRPr sz="16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various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activities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</a:t>
            </a:r>
            <a:endParaRPr sz="1600">
              <a:latin typeface="Calibri"/>
              <a:cs typeface="Calibri"/>
            </a:endParaRPr>
          </a:p>
          <a:p>
            <a:pPr marL="469265" marR="440690">
              <a:lnSpc>
                <a:spcPts val="2260"/>
              </a:lnSpc>
              <a:spcBef>
                <a:spcPts val="114"/>
              </a:spcBef>
            </a:pP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table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analyze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performing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metrics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as </a:t>
            </a:r>
            <a:r>
              <a:rPr sz="1600" spc="-10" dirty="0">
                <a:latin typeface="Calibri"/>
                <a:cs typeface="Calibri"/>
              </a:rPr>
              <a:t>average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covered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etc.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after</a:t>
            </a:r>
            <a:endParaRPr sz="16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190"/>
              </a:spcBef>
            </a:pPr>
            <a:r>
              <a:rPr sz="1600" dirty="0">
                <a:latin typeface="Calibri"/>
                <a:cs typeface="Calibri"/>
              </a:rPr>
              <a:t>identifying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inefficiencies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enhance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customer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satisfaction</a:t>
            </a:r>
            <a:endParaRPr sz="16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20"/>
              </a:spcBef>
            </a:pPr>
            <a:r>
              <a:rPr sz="1600" dirty="0">
                <a:latin typeface="Calibri"/>
                <a:cs typeface="Calibri"/>
              </a:rPr>
              <a:t>plans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problem.</a:t>
            </a:r>
            <a:endParaRPr sz="1600">
              <a:latin typeface="Calibri"/>
              <a:cs typeface="Calibri"/>
            </a:endParaRPr>
          </a:p>
          <a:p>
            <a:pPr marL="469265" marR="304800" indent="-228600">
              <a:lnSpc>
                <a:spcPct val="117000"/>
              </a:lnSpc>
              <a:spcBef>
                <a:spcPts val="490"/>
              </a:spcBef>
              <a:buSzPct val="125000"/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By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segmenting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their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spc="-10" dirty="0">
                <a:latin typeface="Calibri"/>
                <a:cs typeface="Calibri"/>
              </a:rPr>
              <a:t>frequency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introduce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loyalty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program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20" dirty="0">
                <a:latin typeface="Calibri"/>
                <a:cs typeface="Calibri"/>
              </a:rPr>
              <a:t> will</a:t>
            </a:r>
            <a:endParaRPr sz="16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Calibri"/>
                <a:cs typeface="Calibri"/>
              </a:rPr>
              <a:t>provide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benefits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cashbacks,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heavy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discounts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free</a:t>
            </a:r>
            <a:endParaRPr sz="1600">
              <a:latin typeface="Calibri"/>
              <a:cs typeface="Calibri"/>
            </a:endParaRPr>
          </a:p>
          <a:p>
            <a:pPr marL="469265" marR="5080">
              <a:lnSpc>
                <a:spcPct val="116900"/>
              </a:lnSpc>
            </a:pP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frequent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identify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TotalOrders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column.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72997"/>
            <a:ext cx="1227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Q.C1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5789"/>
            <a:ext cx="5774055" cy="67075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latin typeface="Calibri"/>
                <a:cs typeface="Calibri"/>
              </a:rPr>
              <a:t>SELECT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CORR(O.DeliveryTime,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D.DistanceCovered)</a:t>
            </a:r>
            <a:endParaRPr sz="1600">
              <a:latin typeface="Calibri"/>
              <a:cs typeface="Calibri"/>
            </a:endParaRPr>
          </a:p>
          <a:p>
            <a:pPr marL="12700" marR="3288029">
              <a:lnSpc>
                <a:spcPts val="3250"/>
              </a:lnSpc>
              <a:spcBef>
                <a:spcPts val="320"/>
              </a:spcBef>
            </a:pPr>
            <a:r>
              <a:rPr sz="1600" dirty="0">
                <a:latin typeface="Calibri"/>
                <a:cs typeface="Calibri"/>
              </a:rPr>
              <a:t>as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Correlation_Time_Distance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O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spc="-20" dirty="0">
                <a:latin typeface="Calibri"/>
                <a:cs typeface="Calibri"/>
              </a:rPr>
              <a:t>Join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O.OrderID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D.OrderID;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600">
              <a:latin typeface="Calibri"/>
              <a:cs typeface="Calibri"/>
            </a:endParaRPr>
          </a:p>
          <a:p>
            <a:pPr marL="12700" marR="68580">
              <a:lnSpc>
                <a:spcPct val="116900"/>
              </a:lnSpc>
              <a:spcBef>
                <a:spcPts val="5"/>
              </a:spcBef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corr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function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query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will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compute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correlation </a:t>
            </a:r>
            <a:r>
              <a:rPr sz="1600" b="1" dirty="0">
                <a:latin typeface="Calibri"/>
                <a:cs typeface="Calibri"/>
              </a:rPr>
              <a:t>between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delivery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time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distance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covered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using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filtered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data.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1600" b="1" dirty="0">
                <a:latin typeface="Calibri"/>
                <a:cs typeface="Calibri"/>
              </a:rPr>
              <a:t>Data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points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correlation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will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(30,5)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(45,8)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(20,3)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(35,7)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output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single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correlation coefficient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value:</a:t>
            </a:r>
            <a:endParaRPr sz="1600">
              <a:latin typeface="Calibri"/>
              <a:cs typeface="Calibri"/>
            </a:endParaRPr>
          </a:p>
          <a:p>
            <a:pPr marL="469265" marR="316865" indent="-228600">
              <a:lnSpc>
                <a:spcPct val="116900"/>
              </a:lnSpc>
              <a:spcBef>
                <a:spcPts val="1095"/>
              </a:spcBef>
              <a:buFont typeface="Symbol"/>
              <a:buChar char="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Positive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Correlation</a:t>
            </a:r>
            <a:r>
              <a:rPr sz="1600" spc="-10" dirty="0">
                <a:latin typeface="Calibri"/>
                <a:cs typeface="Calibri"/>
              </a:rPr>
              <a:t>(value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+1):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longer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associated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greater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covered.</a:t>
            </a:r>
            <a:endParaRPr sz="1600">
              <a:latin typeface="Calibri"/>
              <a:cs typeface="Calibri"/>
            </a:endParaRPr>
          </a:p>
          <a:p>
            <a:pPr marL="469265" marR="326390" indent="-228600">
              <a:lnSpc>
                <a:spcPct val="1169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b="1" spc="-10" dirty="0">
                <a:latin typeface="Calibri"/>
                <a:cs typeface="Calibri"/>
              </a:rPr>
              <a:t>Negative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Correlation</a:t>
            </a:r>
            <a:r>
              <a:rPr sz="1600" spc="-10" dirty="0">
                <a:latin typeface="Calibri"/>
                <a:cs typeface="Calibri"/>
              </a:rPr>
              <a:t>(value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closer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-1)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longer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associated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shorter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covered.</a:t>
            </a:r>
            <a:endParaRPr sz="1600">
              <a:latin typeface="Calibri"/>
              <a:cs typeface="Calibri"/>
            </a:endParaRPr>
          </a:p>
          <a:p>
            <a:pPr marL="469265" marR="162560" indent="-228600">
              <a:lnSpc>
                <a:spcPct val="1177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b="1" dirty="0">
                <a:latin typeface="Calibri"/>
                <a:cs typeface="Calibri"/>
              </a:rPr>
              <a:t>No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correlation</a:t>
            </a:r>
            <a:r>
              <a:rPr sz="1600" spc="-10" dirty="0">
                <a:latin typeface="Calibri"/>
                <a:cs typeface="Calibri"/>
              </a:rPr>
              <a:t>(value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around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0)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means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linear relation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covered.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17500"/>
              </a:lnSpc>
            </a:pPr>
            <a:r>
              <a:rPr sz="1600" dirty="0">
                <a:latin typeface="Calibri"/>
                <a:cs typeface="Calibri"/>
              </a:rPr>
              <a:t>Here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correlation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coefficient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time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distance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covered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=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0.9748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i.e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positive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correlation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72997"/>
            <a:ext cx="1227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Q.C2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21535"/>
            <a:ext cx="5963285" cy="521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857250">
              <a:lnSpc>
                <a:spcPct val="117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Strategies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to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optimize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store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level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operations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and </a:t>
            </a:r>
            <a:r>
              <a:rPr sz="2000" b="1" dirty="0">
                <a:latin typeface="Calibri"/>
                <a:cs typeface="Calibri"/>
              </a:rPr>
              <a:t>improve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delivery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efficiency:</a:t>
            </a:r>
            <a:endParaRPr sz="2000">
              <a:latin typeface="Calibri"/>
              <a:cs typeface="Calibri"/>
            </a:endParaRPr>
          </a:p>
          <a:p>
            <a:pPr marL="469265" marR="5080" indent="-228600">
              <a:lnSpc>
                <a:spcPct val="117300"/>
              </a:lnSpc>
              <a:spcBef>
                <a:spcPts val="117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Utilize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advance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high </a:t>
            </a:r>
            <a:r>
              <a:rPr sz="1600" dirty="0">
                <a:latin typeface="Calibri"/>
                <a:cs typeface="Calibri"/>
              </a:rPr>
              <a:t>demand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adjust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inventory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accordingly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does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not </a:t>
            </a:r>
            <a:r>
              <a:rPr sz="1600" dirty="0">
                <a:latin typeface="Calibri"/>
                <a:cs typeface="Calibri"/>
              </a:rPr>
              <a:t>go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out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stock.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Employ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automated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minimize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manual</a:t>
            </a:r>
            <a:endParaRPr sz="16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  <a:spcBef>
                <a:spcPts val="325"/>
              </a:spcBef>
            </a:pPr>
            <a:r>
              <a:rPr sz="1600" spc="-10" dirty="0">
                <a:latin typeface="Calibri"/>
                <a:cs typeface="Calibri"/>
              </a:rPr>
              <a:t>errors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inventory.</a:t>
            </a:r>
            <a:endParaRPr sz="1600">
              <a:latin typeface="Calibri"/>
              <a:cs typeface="Calibri"/>
            </a:endParaRPr>
          </a:p>
          <a:p>
            <a:pPr marL="469265" marR="147955" indent="-228600" algn="just">
              <a:lnSpc>
                <a:spcPct val="1169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mapping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tools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optimize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roots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can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fastest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respect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traffic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conditions.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Always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schedule </a:t>
            </a:r>
            <a:r>
              <a:rPr sz="1600" dirty="0">
                <a:latin typeface="Calibri"/>
                <a:cs typeface="Calibri"/>
              </a:rPr>
              <a:t>deliveries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peak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demand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times.</a:t>
            </a:r>
            <a:endParaRPr sz="1600">
              <a:latin typeface="Calibri"/>
              <a:cs typeface="Calibri"/>
            </a:endParaRPr>
          </a:p>
          <a:p>
            <a:pPr marL="469265" marR="205740" indent="-228600" algn="just">
              <a:lnSpc>
                <a:spcPct val="116900"/>
              </a:lnSpc>
              <a:spcBef>
                <a:spcPts val="10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proper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communication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channel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between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personnel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streamline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flow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of</a:t>
            </a:r>
            <a:endParaRPr sz="1600">
              <a:latin typeface="Calibri"/>
              <a:cs typeface="Calibri"/>
            </a:endParaRPr>
          </a:p>
          <a:p>
            <a:pPr marL="469265" algn="just">
              <a:lnSpc>
                <a:spcPct val="100000"/>
              </a:lnSpc>
              <a:spcBef>
                <a:spcPts val="325"/>
              </a:spcBef>
            </a:pPr>
            <a:r>
              <a:rPr sz="1600" spc="-10" dirty="0">
                <a:latin typeface="Calibri"/>
                <a:cs typeface="Calibri"/>
              </a:rPr>
              <a:t>operations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times.</a:t>
            </a:r>
            <a:endParaRPr sz="1600">
              <a:latin typeface="Calibri"/>
              <a:cs typeface="Calibri"/>
            </a:endParaRPr>
          </a:p>
          <a:p>
            <a:pPr marL="469265" marR="479425" indent="-228600">
              <a:lnSpc>
                <a:spcPct val="117200"/>
              </a:lnSpc>
              <a:spcBef>
                <a:spcPts val="75"/>
              </a:spcBef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Proper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feedback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should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gathered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personnel regarding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obstacles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faced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during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deliveries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making adjustments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accordingly.</a:t>
            </a:r>
            <a:endParaRPr sz="1600">
              <a:latin typeface="Calibri"/>
              <a:cs typeface="Calibri"/>
            </a:endParaRPr>
          </a:p>
          <a:p>
            <a:pPr marL="469265" marR="294005" indent="-228600">
              <a:lnSpc>
                <a:spcPct val="1169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600" spc="-20" dirty="0">
                <a:latin typeface="Calibri"/>
                <a:cs typeface="Calibri"/>
              </a:rPr>
              <a:t>Train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staff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efficiently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ensure </a:t>
            </a:r>
            <a:r>
              <a:rPr sz="1600" dirty="0">
                <a:latin typeface="Calibri"/>
                <a:cs typeface="Calibri"/>
              </a:rPr>
              <a:t>they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ready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arrives.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72997"/>
            <a:ext cx="1227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Q.C3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2742"/>
            <a:ext cx="5955665" cy="59150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Calibri"/>
                <a:cs typeface="Calibri"/>
              </a:rPr>
              <a:t>Revenue</a:t>
            </a:r>
            <a:r>
              <a:rPr sz="2000" b="1" spc="-9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Maximization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Formula: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1600" dirty="0">
                <a:latin typeface="Calibri"/>
                <a:cs typeface="Calibri"/>
              </a:rPr>
              <a:t>General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formula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revenue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as:</a:t>
            </a:r>
            <a:endParaRPr sz="1600">
              <a:latin typeface="Calibri"/>
              <a:cs typeface="Calibri"/>
            </a:endParaRPr>
          </a:p>
          <a:p>
            <a:pPr marL="701040" marR="1572260" indent="-414655">
              <a:lnSpc>
                <a:spcPct val="168900"/>
              </a:lnSpc>
              <a:spcBef>
                <a:spcPts val="5"/>
              </a:spcBef>
            </a:pPr>
            <a:r>
              <a:rPr sz="1600" spc="-25" dirty="0">
                <a:latin typeface="Calibri"/>
                <a:cs typeface="Calibri"/>
              </a:rPr>
              <a:t>Total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revenue(TR)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Average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*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 </a:t>
            </a:r>
            <a:r>
              <a:rPr sz="1600" dirty="0">
                <a:latin typeface="Calibri"/>
                <a:cs typeface="Calibri"/>
              </a:rPr>
              <a:t>(TR)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X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*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Y</a:t>
            </a:r>
            <a:endParaRPr sz="1600">
              <a:latin typeface="Calibri"/>
              <a:cs typeface="Calibri"/>
            </a:endParaRPr>
          </a:p>
          <a:p>
            <a:pPr marL="12700" marR="414655">
              <a:lnSpc>
                <a:spcPct val="116900"/>
              </a:lnSpc>
              <a:spcBef>
                <a:spcPts val="1010"/>
              </a:spcBef>
            </a:pP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X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Average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(AOV)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i.e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average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each </a:t>
            </a:r>
            <a:r>
              <a:rPr sz="1600" dirty="0">
                <a:latin typeface="Calibri"/>
                <a:cs typeface="Calibri"/>
              </a:rPr>
              <a:t>customer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order.</a:t>
            </a:r>
            <a:endParaRPr sz="1600">
              <a:latin typeface="Calibri"/>
              <a:cs typeface="Calibri"/>
            </a:endParaRPr>
          </a:p>
          <a:p>
            <a:pPr marL="57785">
              <a:lnSpc>
                <a:spcPct val="100000"/>
              </a:lnSpc>
              <a:spcBef>
                <a:spcPts val="1320"/>
              </a:spcBef>
            </a:pPr>
            <a:r>
              <a:rPr sz="1600" dirty="0">
                <a:latin typeface="Calibri"/>
                <a:cs typeface="Calibri"/>
              </a:rPr>
              <a:t>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i.e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placed.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b="1" spc="-65" dirty="0">
                <a:latin typeface="Calibri"/>
                <a:cs typeface="Calibri"/>
              </a:rPr>
              <a:t>To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maximize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total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revenue:</a:t>
            </a:r>
            <a:endParaRPr sz="1600">
              <a:latin typeface="Calibri"/>
              <a:cs typeface="Calibri"/>
            </a:endParaRPr>
          </a:p>
          <a:p>
            <a:pPr marL="469265" marR="5080" indent="-228600">
              <a:lnSpc>
                <a:spcPct val="116900"/>
              </a:lnSpc>
              <a:spcBef>
                <a:spcPts val="1095"/>
              </a:spcBef>
              <a:buFont typeface="Symbol"/>
              <a:buChar char=""/>
              <a:tabLst>
                <a:tab pos="469265" algn="l"/>
              </a:tabLst>
            </a:pPr>
            <a:r>
              <a:rPr sz="1600" spc="-10" dirty="0">
                <a:latin typeface="Calibri"/>
                <a:cs typeface="Calibri"/>
              </a:rPr>
              <a:t>Encourage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(using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upselling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cross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selling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techniques)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average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value(AOV)</a:t>
            </a:r>
            <a:endParaRPr sz="1600">
              <a:latin typeface="Calibri"/>
              <a:cs typeface="Calibri"/>
            </a:endParaRPr>
          </a:p>
          <a:p>
            <a:pPr marL="469265" marR="107314" indent="-228600">
              <a:lnSpc>
                <a:spcPct val="117500"/>
              </a:lnSpc>
              <a:spcBef>
                <a:spcPts val="7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Acquire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repeat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purchases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existing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increase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600">
              <a:latin typeface="Calibri"/>
              <a:cs typeface="Calibri"/>
            </a:endParaRPr>
          </a:p>
          <a:p>
            <a:pPr marL="12700" marR="308610">
              <a:lnSpc>
                <a:spcPct val="116900"/>
              </a:lnSpc>
            </a:pPr>
            <a:r>
              <a:rPr sz="1600" b="1" dirty="0">
                <a:latin typeface="Calibri"/>
                <a:cs typeface="Calibri"/>
              </a:rPr>
              <a:t>This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simple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formula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which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focuses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two</a:t>
            </a:r>
            <a:r>
              <a:rPr sz="1600" b="1" spc="-1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main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components</a:t>
            </a:r>
            <a:r>
              <a:rPr sz="1600" b="1" spc="-25" dirty="0">
                <a:latin typeface="Calibri"/>
                <a:cs typeface="Calibri"/>
              </a:rPr>
              <a:t> of </a:t>
            </a:r>
            <a:r>
              <a:rPr sz="1600" b="1" spc="-10" dirty="0">
                <a:latin typeface="Calibri"/>
                <a:cs typeface="Calibri"/>
              </a:rPr>
              <a:t>revenue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i.e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value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volume.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72997"/>
            <a:ext cx="1227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Q.C4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2742"/>
            <a:ext cx="5925185" cy="6949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Per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Order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Profit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Maximization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Formula:</a:t>
            </a:r>
            <a:endParaRPr sz="2000">
              <a:latin typeface="Calibri"/>
              <a:cs typeface="Calibri"/>
            </a:endParaRPr>
          </a:p>
          <a:p>
            <a:pPr marL="12700" marR="399415">
              <a:lnSpc>
                <a:spcPct val="116900"/>
              </a:lnSpc>
              <a:spcBef>
                <a:spcPts val="1100"/>
              </a:spcBef>
            </a:pPr>
            <a:r>
              <a:rPr sz="1600" dirty="0">
                <a:latin typeface="Calibri"/>
                <a:cs typeface="Calibri"/>
              </a:rPr>
              <a:t>Per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Profit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Average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Value(AOV)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–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(Cost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Item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+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Cost)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6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Where: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600" dirty="0">
                <a:latin typeface="Calibri"/>
                <a:cs typeface="Calibri"/>
              </a:rPr>
              <a:t>AOV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=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Sales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25" dirty="0">
                <a:latin typeface="Calibri"/>
                <a:cs typeface="Calibri"/>
              </a:rPr>
              <a:t> Total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endParaRPr sz="1600">
              <a:latin typeface="Calibri"/>
              <a:cs typeface="Calibri"/>
            </a:endParaRPr>
          </a:p>
          <a:p>
            <a:pPr marL="12700" marR="963930">
              <a:lnSpc>
                <a:spcPct val="117500"/>
              </a:lnSpc>
              <a:spcBef>
                <a:spcPts val="985"/>
              </a:spcBef>
            </a:pPr>
            <a:r>
              <a:rPr sz="1600" dirty="0">
                <a:latin typeface="Calibri"/>
                <a:cs typeface="Calibri"/>
              </a:rPr>
              <a:t>COIS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(Cost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Item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Sold):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direct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e.g </a:t>
            </a:r>
            <a:r>
              <a:rPr sz="1600" spc="-10" dirty="0">
                <a:latin typeface="Calibri"/>
                <a:cs typeface="Calibri"/>
              </a:rPr>
              <a:t>procurement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cost.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expense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incurred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order.</a:t>
            </a:r>
            <a:endParaRPr sz="1600">
              <a:latin typeface="Calibri"/>
              <a:cs typeface="Calibri"/>
            </a:endParaRPr>
          </a:p>
          <a:p>
            <a:pPr marL="12700" marR="158750">
              <a:lnSpc>
                <a:spcPct val="116900"/>
              </a:lnSpc>
              <a:spcBef>
                <a:spcPts val="1005"/>
              </a:spcBef>
            </a:pPr>
            <a:r>
              <a:rPr sz="1600" spc="-10" dirty="0">
                <a:latin typeface="Calibri"/>
                <a:cs typeface="Calibri"/>
              </a:rPr>
              <a:t>Operational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Cost: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run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business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labour expenses,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technology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used,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warehousing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etc.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20"/>
              </a:spcBef>
            </a:pPr>
            <a:r>
              <a:rPr sz="1600" b="1" dirty="0">
                <a:latin typeface="Calibri"/>
                <a:cs typeface="Calibri"/>
              </a:rPr>
              <a:t>Key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strategies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maximize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profit:</a:t>
            </a:r>
            <a:endParaRPr sz="1600">
              <a:latin typeface="Calibri"/>
              <a:cs typeface="Calibri"/>
            </a:endParaRPr>
          </a:p>
          <a:p>
            <a:pPr marL="469265" marR="201295" indent="-228600">
              <a:lnSpc>
                <a:spcPct val="116900"/>
              </a:lnSpc>
              <a:spcBef>
                <a:spcPts val="1095"/>
              </a:spcBef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Increase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AOV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promoting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margin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products.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upselling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cross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selling.</a:t>
            </a:r>
            <a:endParaRPr sz="1600">
              <a:latin typeface="Calibri"/>
              <a:cs typeface="Calibri"/>
            </a:endParaRPr>
          </a:p>
          <a:p>
            <a:pPr marL="469265" marR="5080" indent="-228600">
              <a:lnSpc>
                <a:spcPct val="117000"/>
              </a:lnSpc>
              <a:spcBef>
                <a:spcPts val="80"/>
              </a:spcBef>
              <a:buFont typeface="Symbol"/>
              <a:buChar char=""/>
              <a:tabLst>
                <a:tab pos="469265" algn="l"/>
              </a:tabLst>
            </a:pPr>
            <a:r>
              <a:rPr sz="1600" spc="-10" dirty="0">
                <a:latin typeface="Calibri"/>
                <a:cs typeface="Calibri"/>
              </a:rPr>
              <a:t>Negotiate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suppliers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item.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Minimize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wastage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inventory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hiring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skilled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labourers.</a:t>
            </a:r>
            <a:endParaRPr sz="1600">
              <a:latin typeface="Calibri"/>
              <a:cs typeface="Calibri"/>
            </a:endParaRPr>
          </a:p>
          <a:p>
            <a:pPr marL="469265" marR="497205" indent="-228600">
              <a:lnSpc>
                <a:spcPct val="116900"/>
              </a:lnSpc>
              <a:spcBef>
                <a:spcPts val="95"/>
              </a:spcBef>
              <a:buFont typeface="Symbol"/>
              <a:buChar char="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Merge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number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optimize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routes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reduce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logistics.</a:t>
            </a:r>
            <a:endParaRPr sz="1600">
              <a:latin typeface="Calibri"/>
              <a:cs typeface="Calibri"/>
            </a:endParaRPr>
          </a:p>
          <a:p>
            <a:pPr marL="469265" marR="372110" indent="-228600">
              <a:lnSpc>
                <a:spcPct val="116900"/>
              </a:lnSpc>
              <a:spcBef>
                <a:spcPts val="85"/>
              </a:spcBef>
              <a:buFont typeface="Symbol"/>
              <a:buChar char=""/>
              <a:tabLst>
                <a:tab pos="469265" algn="l"/>
              </a:tabLst>
            </a:pPr>
            <a:r>
              <a:rPr sz="1600" spc="-10" dirty="0">
                <a:latin typeface="Calibri"/>
                <a:cs typeface="Calibri"/>
              </a:rPr>
              <a:t>Automate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various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picking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packing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items, </a:t>
            </a:r>
            <a:r>
              <a:rPr sz="1600" dirty="0">
                <a:latin typeface="Calibri"/>
                <a:cs typeface="Calibri"/>
              </a:rPr>
              <a:t>ensure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staff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reduce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operational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costs.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2004" y="872997"/>
            <a:ext cx="122745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Q.C5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02004" y="1872742"/>
            <a:ext cx="5840730" cy="5347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Calibri"/>
                <a:cs typeface="Calibri"/>
              </a:rPr>
              <a:t>Holistic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comparison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Blinkit,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Zepto,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Instamart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25" dirty="0">
                <a:latin typeface="Calibri"/>
                <a:cs typeface="Calibri"/>
              </a:rPr>
              <a:t>BB: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2000" dirty="0">
              <a:latin typeface="Calibri"/>
              <a:cs typeface="Calibri"/>
            </a:endParaRPr>
          </a:p>
          <a:p>
            <a:pPr marL="688975" indent="-227329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688975" algn="l"/>
              </a:tabLst>
            </a:pPr>
            <a:r>
              <a:rPr sz="2000" b="1" dirty="0">
                <a:latin typeface="Calibri"/>
                <a:cs typeface="Calibri"/>
              </a:rPr>
              <a:t>Delivery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Speed</a:t>
            </a:r>
            <a:endParaRPr sz="2000" dirty="0">
              <a:latin typeface="Calibri"/>
              <a:cs typeface="Calibri"/>
            </a:endParaRPr>
          </a:p>
          <a:p>
            <a:pPr marL="871855" marR="150495" lvl="1" indent="-228600">
              <a:lnSpc>
                <a:spcPct val="117500"/>
              </a:lnSpc>
              <a:spcBef>
                <a:spcPts val="175"/>
              </a:spcBef>
              <a:buFont typeface="Symbol"/>
              <a:buChar char=""/>
              <a:tabLst>
                <a:tab pos="871855" algn="l"/>
              </a:tabLst>
            </a:pP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Known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10–20-</a:t>
            </a:r>
            <a:r>
              <a:rPr sz="1600" dirty="0">
                <a:latin typeface="Calibri"/>
                <a:cs typeface="Calibri"/>
              </a:rPr>
              <a:t>minute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grocery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deliveries,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 </a:t>
            </a:r>
            <a:r>
              <a:rPr sz="1600" spc="-10" dirty="0">
                <a:latin typeface="Calibri"/>
                <a:cs typeface="Calibri"/>
              </a:rPr>
              <a:t>strong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emphasis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rapid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urban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areas.</a:t>
            </a:r>
            <a:endParaRPr sz="1600" dirty="0">
              <a:latin typeface="Calibri"/>
              <a:cs typeface="Calibri"/>
            </a:endParaRPr>
          </a:p>
          <a:p>
            <a:pPr marL="871855" lvl="1" indent="-228600">
              <a:lnSpc>
                <a:spcPct val="100000"/>
              </a:lnSpc>
              <a:spcBef>
                <a:spcPts val="405"/>
              </a:spcBef>
              <a:buFont typeface="Symbol"/>
              <a:buChar char=""/>
              <a:tabLst>
                <a:tab pos="871855" algn="l"/>
              </a:tabLst>
            </a:pPr>
            <a:r>
              <a:rPr sz="1600" b="1" dirty="0">
                <a:latin typeface="Calibri"/>
                <a:cs typeface="Calibri"/>
              </a:rPr>
              <a:t>Zepto: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Zepto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focuses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10" dirty="0">
                <a:latin typeface="Calibri"/>
                <a:cs typeface="Calibri"/>
              </a:rPr>
              <a:t> 10-minute</a:t>
            </a:r>
            <a:endParaRPr sz="1600" dirty="0">
              <a:latin typeface="Calibri"/>
              <a:cs typeface="Calibri"/>
            </a:endParaRPr>
          </a:p>
          <a:p>
            <a:pPr marL="871855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Calibri"/>
                <a:cs typeface="Calibri"/>
              </a:rPr>
              <a:t>deliveries,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commerce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primary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selling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point.</a:t>
            </a:r>
            <a:endParaRPr sz="1600" dirty="0">
              <a:latin typeface="Calibri"/>
              <a:cs typeface="Calibri"/>
            </a:endParaRPr>
          </a:p>
          <a:p>
            <a:pPr marL="871855" marR="488315" lvl="1" indent="-228600">
              <a:lnSpc>
                <a:spcPct val="117500"/>
              </a:lnSpc>
              <a:spcBef>
                <a:spcPts val="70"/>
              </a:spcBef>
              <a:buFont typeface="Symbol"/>
              <a:buChar char=""/>
              <a:tabLst>
                <a:tab pos="871855" algn="l"/>
              </a:tabLst>
            </a:pP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(Swiggy):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15–30-</a:t>
            </a:r>
            <a:r>
              <a:rPr sz="1600" dirty="0">
                <a:latin typeface="Calibri"/>
                <a:cs typeface="Calibri"/>
              </a:rPr>
              <a:t>minute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deliveries, </a:t>
            </a:r>
            <a:r>
              <a:rPr sz="1600" dirty="0">
                <a:latin typeface="Calibri"/>
                <a:cs typeface="Calibri"/>
              </a:rPr>
              <a:t>balancing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slightly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broader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range.</a:t>
            </a:r>
            <a:endParaRPr sz="1600" dirty="0">
              <a:latin typeface="Calibri"/>
              <a:cs typeface="Calibri"/>
            </a:endParaRPr>
          </a:p>
          <a:p>
            <a:pPr marL="871855" marR="227965" lvl="1" indent="-228600">
              <a:lnSpc>
                <a:spcPct val="117000"/>
              </a:lnSpc>
              <a:spcBef>
                <a:spcPts val="85"/>
              </a:spcBef>
              <a:buFont typeface="Symbol"/>
              <a:buChar char=""/>
              <a:tabLst>
                <a:tab pos="871855" algn="l"/>
              </a:tabLst>
            </a:pPr>
            <a:r>
              <a:rPr sz="1600" b="1" spc="-10" dirty="0">
                <a:latin typeface="Calibri"/>
                <a:cs typeface="Calibri"/>
              </a:rPr>
              <a:t>BigBasket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(BB):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Primarily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focused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scheduled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deliveries </a:t>
            </a:r>
            <a:r>
              <a:rPr sz="1600" dirty="0">
                <a:latin typeface="Calibri"/>
                <a:cs typeface="Calibri"/>
              </a:rPr>
              <a:t>(same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next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day)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rather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ultra-</a:t>
            </a:r>
            <a:r>
              <a:rPr sz="1600" dirty="0">
                <a:latin typeface="Calibri"/>
                <a:cs typeface="Calibri"/>
              </a:rPr>
              <a:t>fast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service.</a:t>
            </a:r>
            <a:endParaRPr sz="1600" dirty="0">
              <a:latin typeface="Calibri"/>
              <a:cs typeface="Calibri"/>
            </a:endParaRPr>
          </a:p>
          <a:p>
            <a:pPr marL="871855" marR="510540">
              <a:lnSpc>
                <a:spcPct val="116900"/>
              </a:lnSpc>
            </a:pPr>
            <a:r>
              <a:rPr sz="1600" spc="-25" dirty="0">
                <a:latin typeface="Calibri"/>
                <a:cs typeface="Calibri"/>
              </a:rPr>
              <a:t>Recently,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BigBasket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introduced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BB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instant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aggressively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Zepto.</a:t>
            </a:r>
            <a:endParaRPr sz="1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1600" dirty="0">
              <a:latin typeface="Calibri"/>
              <a:cs typeface="Calibri"/>
            </a:endParaRPr>
          </a:p>
          <a:p>
            <a:pPr marL="926465" marR="92710" algn="just">
              <a:lnSpc>
                <a:spcPct val="116900"/>
              </a:lnSpc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Zepto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ultrafast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while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also </a:t>
            </a:r>
            <a:r>
              <a:rPr sz="1600" b="1" dirty="0">
                <a:latin typeface="Calibri"/>
                <a:cs typeface="Calibri"/>
              </a:rPr>
              <a:t>very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quick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but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not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rapid.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Bigbasket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focus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scheduled delivery.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533" y="808242"/>
            <a:ext cx="5440680" cy="79470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45"/>
              </a:spcBef>
              <a:buAutoNum type="arabicPeriod" startAt="2"/>
              <a:tabLst>
                <a:tab pos="240029" algn="l"/>
              </a:tabLst>
            </a:pPr>
            <a:r>
              <a:rPr sz="2000" b="1" dirty="0">
                <a:latin typeface="Calibri"/>
                <a:cs typeface="Calibri"/>
              </a:rPr>
              <a:t>Product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Assortment</a:t>
            </a:r>
            <a:endParaRPr sz="2000">
              <a:latin typeface="Calibri"/>
              <a:cs typeface="Calibri"/>
            </a:endParaRPr>
          </a:p>
          <a:p>
            <a:pPr marL="422275" lvl="1" indent="-228600">
              <a:lnSpc>
                <a:spcPct val="100000"/>
              </a:lnSpc>
              <a:spcBef>
                <a:spcPts val="505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Blinkit:</a:t>
            </a:r>
            <a:r>
              <a:rPr sz="1600" b="1" spc="-1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Offers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everyday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essentials,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including</a:t>
            </a:r>
            <a:endParaRPr sz="1600">
              <a:latin typeface="Calibri"/>
              <a:cs typeface="Calibri"/>
            </a:endParaRPr>
          </a:p>
          <a:p>
            <a:pPr marL="422275" marR="245110">
              <a:lnSpc>
                <a:spcPct val="116900"/>
              </a:lnSpc>
            </a:pPr>
            <a:r>
              <a:rPr sz="1600" spc="-10" dirty="0">
                <a:latin typeface="Calibri"/>
                <a:cs typeface="Calibri"/>
              </a:rPr>
              <a:t>groceries,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fruits,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vegetables,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household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products.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assortment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limited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compared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traditional</a:t>
            </a:r>
            <a:endParaRPr sz="1600">
              <a:latin typeface="Calibri"/>
              <a:cs typeface="Calibri"/>
            </a:endParaRPr>
          </a:p>
          <a:p>
            <a:pPr marL="422275">
              <a:lnSpc>
                <a:spcPct val="100000"/>
              </a:lnSpc>
              <a:spcBef>
                <a:spcPts val="340"/>
              </a:spcBef>
            </a:pPr>
            <a:r>
              <a:rPr sz="1600" spc="-10" dirty="0">
                <a:latin typeface="Calibri"/>
                <a:cs typeface="Calibri"/>
              </a:rPr>
              <a:t>supermarkets,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focusing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high-demand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products.</a:t>
            </a:r>
            <a:endParaRPr sz="1600">
              <a:latin typeface="Calibri"/>
              <a:cs typeface="Calibri"/>
            </a:endParaRPr>
          </a:p>
          <a:p>
            <a:pPr marL="422275" marR="88900" lvl="1" indent="-228600">
              <a:lnSpc>
                <a:spcPct val="117000"/>
              </a:lnSpc>
              <a:spcBef>
                <a:spcPts val="80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Zepto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Zepto’s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offering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focuses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on </a:t>
            </a:r>
            <a:r>
              <a:rPr sz="1600" dirty="0">
                <a:latin typeface="Calibri"/>
                <a:cs typeface="Calibri"/>
              </a:rPr>
              <a:t>daily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essentials, </a:t>
            </a:r>
            <a:r>
              <a:rPr sz="1600" dirty="0">
                <a:latin typeface="Calibri"/>
                <a:cs typeface="Calibri"/>
              </a:rPr>
              <a:t>including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groceries,</a:t>
            </a:r>
            <a:r>
              <a:rPr sz="1600" dirty="0">
                <a:latin typeface="Calibri"/>
                <a:cs typeface="Calibri"/>
              </a:rPr>
              <a:t> snacks,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beverages,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slightly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broader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high-demand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products.</a:t>
            </a:r>
            <a:endParaRPr sz="1600">
              <a:latin typeface="Calibri"/>
              <a:cs typeface="Calibri"/>
            </a:endParaRPr>
          </a:p>
          <a:p>
            <a:pPr marL="422275" marR="189865" lvl="1" indent="-228600">
              <a:lnSpc>
                <a:spcPct val="117500"/>
              </a:lnSpc>
              <a:spcBef>
                <a:spcPts val="70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(Swiggy):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Instamart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offers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larger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assortment compared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Zepto,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including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snacks,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groceries,</a:t>
            </a:r>
            <a:endParaRPr sz="1600">
              <a:latin typeface="Calibri"/>
              <a:cs typeface="Calibri"/>
            </a:endParaRPr>
          </a:p>
          <a:p>
            <a:pPr marL="422275" marR="123825">
              <a:lnSpc>
                <a:spcPct val="116900"/>
              </a:lnSpc>
            </a:pPr>
            <a:r>
              <a:rPr sz="1600" dirty="0">
                <a:latin typeface="Calibri"/>
                <a:cs typeface="Calibri"/>
              </a:rPr>
              <a:t>personal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care,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household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products,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leveraging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Swiggy’s </a:t>
            </a:r>
            <a:r>
              <a:rPr sz="1600" dirty="0">
                <a:latin typeface="Calibri"/>
                <a:cs typeface="Calibri"/>
              </a:rPr>
              <a:t>logistical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power.</a:t>
            </a:r>
            <a:endParaRPr sz="1600">
              <a:latin typeface="Calibri"/>
              <a:cs typeface="Calibri"/>
            </a:endParaRPr>
          </a:p>
          <a:p>
            <a:pPr marL="422275" marR="226695" lvl="1" indent="-228600">
              <a:lnSpc>
                <a:spcPct val="116900"/>
              </a:lnSpc>
              <a:spcBef>
                <a:spcPts val="85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spc="-10" dirty="0">
                <a:latin typeface="Calibri"/>
                <a:cs typeface="Calibri"/>
              </a:rPr>
              <a:t>BigBasket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(BB):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widest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range,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including groceries,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fresh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dairy,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bakery,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personal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care,</a:t>
            </a:r>
            <a:endParaRPr sz="1600">
              <a:latin typeface="Calibri"/>
              <a:cs typeface="Calibri"/>
            </a:endParaRPr>
          </a:p>
          <a:p>
            <a:pPr marL="422275" marR="19685">
              <a:lnSpc>
                <a:spcPct val="1170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thousands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SKUs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(stock-</a:t>
            </a:r>
            <a:r>
              <a:rPr sz="1600" dirty="0">
                <a:latin typeface="Calibri"/>
                <a:cs typeface="Calibri"/>
              </a:rPr>
              <a:t>keeping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units),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ideal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larger,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b="1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600">
              <a:latin typeface="Calibri"/>
              <a:cs typeface="Calibri"/>
            </a:endParaRPr>
          </a:p>
          <a:p>
            <a:pPr marL="477520" marR="187960">
              <a:lnSpc>
                <a:spcPct val="116900"/>
              </a:lnSpc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BB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leads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product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variety,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followed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by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Instamart, </a:t>
            </a: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Zepto.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6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AutoNum type="arabicPeriod" startAt="3"/>
              <a:tabLst>
                <a:tab pos="240029" algn="l"/>
              </a:tabLst>
            </a:pPr>
            <a:r>
              <a:rPr sz="2000" b="1" dirty="0">
                <a:latin typeface="Calibri"/>
                <a:cs typeface="Calibri"/>
              </a:rPr>
              <a:t>Geographical</a:t>
            </a:r>
            <a:r>
              <a:rPr sz="2000" b="1" spc="-10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Reach</a:t>
            </a:r>
            <a:endParaRPr sz="2000">
              <a:latin typeface="Calibri"/>
              <a:cs typeface="Calibri"/>
            </a:endParaRPr>
          </a:p>
          <a:p>
            <a:pPr marL="422275" lvl="1" indent="-228600">
              <a:lnSpc>
                <a:spcPct val="100000"/>
              </a:lnSpc>
              <a:spcBef>
                <a:spcPts val="509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Blinkit: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major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cities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India,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focusing</a:t>
            </a:r>
            <a:endParaRPr sz="1600">
              <a:latin typeface="Calibri"/>
              <a:cs typeface="Calibri"/>
            </a:endParaRPr>
          </a:p>
          <a:p>
            <a:pPr marL="422275" marR="201295">
              <a:lnSpc>
                <a:spcPct val="1169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primarily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urban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centers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population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density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to </a:t>
            </a:r>
            <a:r>
              <a:rPr sz="1600" dirty="0">
                <a:latin typeface="Calibri"/>
                <a:cs typeface="Calibri"/>
              </a:rPr>
              <a:t>maximize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efficiency.</a:t>
            </a:r>
            <a:endParaRPr sz="1600">
              <a:latin typeface="Calibri"/>
              <a:cs typeface="Calibri"/>
            </a:endParaRPr>
          </a:p>
          <a:p>
            <a:pPr marL="422275" lvl="1" indent="-228600">
              <a:lnSpc>
                <a:spcPct val="100000"/>
              </a:lnSpc>
              <a:spcBef>
                <a:spcPts val="409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Zepto: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Zepto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operates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select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urban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areas,</a:t>
            </a:r>
            <a:endParaRPr sz="1600">
              <a:latin typeface="Calibri"/>
              <a:cs typeface="Calibri"/>
            </a:endParaRPr>
          </a:p>
          <a:p>
            <a:pPr marL="422275">
              <a:lnSpc>
                <a:spcPct val="100000"/>
              </a:lnSpc>
              <a:spcBef>
                <a:spcPts val="325"/>
              </a:spcBef>
            </a:pPr>
            <a:r>
              <a:rPr sz="1600" spc="-10" dirty="0">
                <a:latin typeface="Calibri"/>
                <a:cs typeface="Calibri"/>
              </a:rPr>
              <a:t>targeting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metros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where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demand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highest.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533" y="861720"/>
            <a:ext cx="5487035" cy="8123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marR="13970" indent="-228600">
              <a:lnSpc>
                <a:spcPct val="116900"/>
              </a:lnSpc>
              <a:spcBef>
                <a:spcPts val="100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(Swiggy):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broad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reach,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leveraging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Swiggy’s established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network.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Available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several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major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cities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growing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fast.</a:t>
            </a:r>
            <a:endParaRPr sz="1600">
              <a:latin typeface="Calibri"/>
              <a:cs typeface="Calibri"/>
            </a:endParaRPr>
          </a:p>
          <a:p>
            <a:pPr marL="422275" marR="5080" indent="-228600" algn="just">
              <a:lnSpc>
                <a:spcPct val="116500"/>
              </a:lnSpc>
              <a:spcBef>
                <a:spcPts val="509"/>
              </a:spcBef>
              <a:buSzPct val="125000"/>
              <a:buFont typeface="Symbol"/>
              <a:buChar char=""/>
              <a:tabLst>
                <a:tab pos="422275" algn="l"/>
              </a:tabLst>
            </a:pPr>
            <a:r>
              <a:rPr sz="1600" b="1" spc="-10" dirty="0">
                <a:latin typeface="Calibri"/>
                <a:cs typeface="Calibri"/>
              </a:rPr>
              <a:t>BigBasket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(BB):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widest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reach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among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four,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available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in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30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cities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India,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catering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metros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tier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2 </a:t>
            </a:r>
            <a:r>
              <a:rPr sz="1600" dirty="0">
                <a:latin typeface="Calibri"/>
                <a:cs typeface="Calibri"/>
              </a:rPr>
              <a:t>cities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focus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scheduled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express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deliveries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22275" marR="78740">
              <a:lnSpc>
                <a:spcPct val="117000"/>
              </a:lnSpc>
              <a:spcBef>
                <a:spcPts val="1095"/>
              </a:spcBef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BB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has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the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largest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geographical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presence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followed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by </a:t>
            </a:r>
            <a:r>
              <a:rPr sz="1600" b="1" dirty="0">
                <a:latin typeface="Calibri"/>
                <a:cs typeface="Calibri"/>
              </a:rPr>
              <a:t>instamart,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zepto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which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focuses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densely </a:t>
            </a:r>
            <a:r>
              <a:rPr sz="1600" b="1" dirty="0">
                <a:latin typeface="Calibri"/>
                <a:cs typeface="Calibri"/>
              </a:rPr>
              <a:t>populated</a:t>
            </a:r>
            <a:r>
              <a:rPr sz="1600" b="1" spc="-9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areas.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6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5"/>
              </a:spcBef>
              <a:buAutoNum type="arabicPeriod" startAt="4"/>
              <a:tabLst>
                <a:tab pos="240029" algn="l"/>
              </a:tabLst>
            </a:pPr>
            <a:r>
              <a:rPr sz="2000" b="1" dirty="0">
                <a:latin typeface="Calibri"/>
                <a:cs typeface="Calibri"/>
              </a:rPr>
              <a:t>Pricing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Discounts</a:t>
            </a:r>
            <a:endParaRPr sz="2000">
              <a:latin typeface="Calibri"/>
              <a:cs typeface="Calibri"/>
            </a:endParaRPr>
          </a:p>
          <a:p>
            <a:pPr marL="422275" marR="5715" lvl="1" indent="-228600" algn="just">
              <a:lnSpc>
                <a:spcPct val="117200"/>
              </a:lnSpc>
              <a:spcBef>
                <a:spcPts val="175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Blinkit: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Competitive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essentials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frequent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offers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discounts,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generally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aligned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local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supermarkets. </a:t>
            </a:r>
            <a:r>
              <a:rPr sz="1600" dirty="0">
                <a:latin typeface="Calibri"/>
                <a:cs typeface="Calibri"/>
              </a:rPr>
              <a:t>Charges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fees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smaller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orders.</a:t>
            </a:r>
            <a:endParaRPr sz="1600">
              <a:latin typeface="Calibri"/>
              <a:cs typeface="Calibri"/>
            </a:endParaRPr>
          </a:p>
          <a:p>
            <a:pPr marL="422275" marR="201930" lvl="1" indent="-228600" algn="just">
              <a:lnSpc>
                <a:spcPct val="116900"/>
              </a:lnSpc>
              <a:spcBef>
                <a:spcPts val="85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Zepto: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 </a:t>
            </a:r>
            <a:r>
              <a:rPr sz="1600" spc="-10" dirty="0">
                <a:latin typeface="Calibri"/>
                <a:cs typeface="Calibri"/>
              </a:rPr>
              <a:t>competitive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discounts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popular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items,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though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occasionally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slightly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</a:t>
            </a:r>
            <a:endParaRPr sz="1600">
              <a:latin typeface="Calibri"/>
              <a:cs typeface="Calibri"/>
            </a:endParaRPr>
          </a:p>
          <a:p>
            <a:pPr marL="422275" marR="543560" algn="just">
              <a:lnSpc>
                <a:spcPct val="116900"/>
              </a:lnSpc>
            </a:pPr>
            <a:r>
              <a:rPr sz="1600" spc="-10" dirty="0">
                <a:latin typeface="Calibri"/>
                <a:cs typeface="Calibri"/>
              </a:rPr>
              <a:t>ultra-</a:t>
            </a:r>
            <a:r>
              <a:rPr sz="1600" dirty="0">
                <a:latin typeface="Calibri"/>
                <a:cs typeface="Calibri"/>
              </a:rPr>
              <a:t>fast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convenience.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above</a:t>
            </a:r>
            <a:r>
              <a:rPr sz="1600" spc="-50" dirty="0">
                <a:latin typeface="Calibri"/>
                <a:cs typeface="Calibri"/>
              </a:rPr>
              <a:t> a </a:t>
            </a:r>
            <a:r>
              <a:rPr sz="1600" spc="-10" dirty="0">
                <a:latin typeface="Calibri"/>
                <a:cs typeface="Calibri"/>
              </a:rPr>
              <a:t>threshold.</a:t>
            </a:r>
            <a:endParaRPr sz="1600">
              <a:latin typeface="Calibri"/>
              <a:cs typeface="Calibri"/>
            </a:endParaRPr>
          </a:p>
          <a:p>
            <a:pPr marL="422275" marR="53340" lvl="1" indent="-228600" algn="just">
              <a:lnSpc>
                <a:spcPct val="116900"/>
              </a:lnSpc>
              <a:spcBef>
                <a:spcPts val="95"/>
              </a:spcBef>
              <a:buFont typeface="Symbol"/>
              <a:buChar char=""/>
              <a:tabLst>
                <a:tab pos="422275" algn="l"/>
              </a:tabLst>
            </a:pP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(Swiggy):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competitive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combines </a:t>
            </a:r>
            <a:r>
              <a:rPr sz="1600" spc="-20" dirty="0">
                <a:latin typeface="Calibri"/>
                <a:cs typeface="Calibri"/>
              </a:rPr>
              <a:t>offers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from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Swiggy’s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ecosystem,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often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integrating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</a:t>
            </a:r>
            <a:endParaRPr sz="1600">
              <a:latin typeface="Calibri"/>
              <a:cs typeface="Calibri"/>
            </a:endParaRPr>
          </a:p>
          <a:p>
            <a:pPr marL="422275" marR="240029" algn="just">
              <a:lnSpc>
                <a:spcPct val="116900"/>
              </a:lnSpc>
            </a:pPr>
            <a:r>
              <a:rPr sz="1600" dirty="0">
                <a:latin typeface="Calibri"/>
                <a:cs typeface="Calibri"/>
              </a:rPr>
              <a:t>discounts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promotions,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 </a:t>
            </a:r>
            <a:r>
              <a:rPr sz="1600" dirty="0">
                <a:latin typeface="Calibri"/>
                <a:cs typeface="Calibri"/>
              </a:rPr>
              <a:t>One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subscribers.</a:t>
            </a:r>
            <a:endParaRPr sz="1600">
              <a:latin typeface="Calibri"/>
              <a:cs typeface="Calibri"/>
            </a:endParaRPr>
          </a:p>
          <a:p>
            <a:pPr marL="422275" marR="40005" lvl="1" indent="-228600">
              <a:lnSpc>
                <a:spcPct val="117100"/>
              </a:lnSpc>
              <a:spcBef>
                <a:spcPts val="490"/>
              </a:spcBef>
              <a:buSzPct val="125000"/>
              <a:buFont typeface="Symbol"/>
              <a:buChar char=""/>
              <a:tabLst>
                <a:tab pos="422275" algn="l"/>
              </a:tabLst>
            </a:pPr>
            <a:r>
              <a:rPr sz="1600" b="1" spc="-10" dirty="0">
                <a:latin typeface="Calibri"/>
                <a:cs typeface="Calibri"/>
              </a:rPr>
              <a:t>BigBasket </a:t>
            </a:r>
            <a:r>
              <a:rPr sz="1600" b="1" dirty="0">
                <a:latin typeface="Calibri"/>
                <a:cs typeface="Calibri"/>
              </a:rPr>
              <a:t>(BB</a:t>
            </a:r>
            <a:r>
              <a:rPr sz="1600" dirty="0">
                <a:latin typeface="Calibri"/>
                <a:cs typeface="Calibri"/>
              </a:rPr>
              <a:t>):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Bulk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0" dirty="0">
                <a:latin typeface="Calibri"/>
                <a:cs typeface="Calibri"/>
              </a:rPr>
              <a:t> subscription-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pricing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available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larger,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orders.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Offers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competitive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discounts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dirty="0">
                <a:latin typeface="Calibri"/>
                <a:cs typeface="Calibri"/>
              </a:rPr>
              <a:t>has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BB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memberships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perks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like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delivery, </a:t>
            </a:r>
            <a:r>
              <a:rPr sz="1600" dirty="0">
                <a:latin typeface="Calibri"/>
                <a:cs typeface="Calibri"/>
              </a:rPr>
              <a:t>cashback,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exclusive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deals.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533" y="851052"/>
            <a:ext cx="5469255" cy="66713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2275" marR="355600" algn="just">
              <a:lnSpc>
                <a:spcPct val="116900"/>
              </a:lnSpc>
              <a:spcBef>
                <a:spcPts val="100"/>
              </a:spcBef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BB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offer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more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structured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discounts </a:t>
            </a:r>
            <a:r>
              <a:rPr sz="1600" b="1" dirty="0">
                <a:latin typeface="Calibri"/>
                <a:cs typeface="Calibri"/>
              </a:rPr>
              <a:t>while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zepto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focus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pricing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convenience</a:t>
            </a:r>
            <a:r>
              <a:rPr sz="1600" b="1" spc="-25" dirty="0">
                <a:latin typeface="Calibri"/>
                <a:cs typeface="Calibri"/>
              </a:rPr>
              <a:t> for </a:t>
            </a:r>
            <a:r>
              <a:rPr sz="1600" b="1" dirty="0">
                <a:latin typeface="Calibri"/>
                <a:cs typeface="Calibri"/>
              </a:rPr>
              <a:t>smaller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everyday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orders.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6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AutoNum type="arabicPeriod" startAt="5"/>
              <a:tabLst>
                <a:tab pos="240029" algn="l"/>
              </a:tabLst>
            </a:pPr>
            <a:r>
              <a:rPr sz="2000" b="1" dirty="0">
                <a:latin typeface="Calibri"/>
                <a:cs typeface="Calibri"/>
              </a:rPr>
              <a:t>Order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Size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Minimum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Order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Value</a:t>
            </a:r>
            <a:endParaRPr sz="2000">
              <a:latin typeface="Calibri"/>
              <a:cs typeface="Calibri"/>
            </a:endParaRPr>
          </a:p>
          <a:p>
            <a:pPr marL="512445" lvl="1" indent="-228600">
              <a:lnSpc>
                <a:spcPct val="100000"/>
              </a:lnSpc>
              <a:spcBef>
                <a:spcPts val="505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Blinkit: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Targets </a:t>
            </a:r>
            <a:r>
              <a:rPr sz="1600" dirty="0">
                <a:latin typeface="Calibri"/>
                <a:cs typeface="Calibri"/>
              </a:rPr>
              <a:t>small,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frequent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orders.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Typically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requires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a</a:t>
            </a:r>
            <a:endParaRPr sz="1600">
              <a:latin typeface="Calibri"/>
              <a:cs typeface="Calibri"/>
            </a:endParaRPr>
          </a:p>
          <a:p>
            <a:pPr marL="512445" marR="12065" algn="just">
              <a:lnSpc>
                <a:spcPct val="116900"/>
              </a:lnSpc>
              <a:spcBef>
                <a:spcPts val="15"/>
              </a:spcBef>
            </a:pPr>
            <a:r>
              <a:rPr sz="1600" dirty="0">
                <a:latin typeface="Calibri"/>
                <a:cs typeface="Calibri"/>
              </a:rPr>
              <a:t>small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minimum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(around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₹50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₹100)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or </a:t>
            </a:r>
            <a:r>
              <a:rPr sz="1600" spc="-20" dirty="0">
                <a:latin typeface="Calibri"/>
                <a:cs typeface="Calibri"/>
              </a:rPr>
              <a:t>low-</a:t>
            </a:r>
            <a:r>
              <a:rPr sz="1600" dirty="0">
                <a:latin typeface="Calibri"/>
                <a:cs typeface="Calibri"/>
              </a:rPr>
              <a:t>cost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delivery.</a:t>
            </a:r>
            <a:endParaRPr sz="1600">
              <a:latin typeface="Calibri"/>
              <a:cs typeface="Calibri"/>
            </a:endParaRPr>
          </a:p>
          <a:p>
            <a:pPr marL="512445" marR="290195" lvl="1" indent="-228600" algn="just">
              <a:lnSpc>
                <a:spcPct val="116900"/>
              </a:lnSpc>
              <a:spcBef>
                <a:spcPts val="85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Zepto: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Zepto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targets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basket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sizes,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minimum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requirements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free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delivery thresholds.</a:t>
            </a:r>
            <a:endParaRPr sz="1600">
              <a:latin typeface="Calibri"/>
              <a:cs typeface="Calibri"/>
            </a:endParaRPr>
          </a:p>
          <a:p>
            <a:pPr marL="512445" marR="257175" lvl="1" indent="-228600" algn="just">
              <a:lnSpc>
                <a:spcPct val="116900"/>
              </a:lnSpc>
              <a:spcBef>
                <a:spcPts val="95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(Swiggy):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flexible,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offering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low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minimum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also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supports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larger</a:t>
            </a:r>
            <a:endParaRPr sz="1600">
              <a:latin typeface="Calibri"/>
              <a:cs typeface="Calibri"/>
            </a:endParaRPr>
          </a:p>
          <a:p>
            <a:pPr marL="512445">
              <a:lnSpc>
                <a:spcPct val="100000"/>
              </a:lnSpc>
              <a:spcBef>
                <a:spcPts val="325"/>
              </a:spcBef>
            </a:pPr>
            <a:r>
              <a:rPr sz="1600" spc="-10" dirty="0">
                <a:latin typeface="Calibri"/>
                <a:cs typeface="Calibri"/>
              </a:rPr>
              <a:t>orders.</a:t>
            </a:r>
            <a:endParaRPr sz="1600">
              <a:latin typeface="Calibri"/>
              <a:cs typeface="Calibri"/>
            </a:endParaRPr>
          </a:p>
          <a:p>
            <a:pPr marL="512445" marR="5080" lvl="1" indent="-228600">
              <a:lnSpc>
                <a:spcPct val="116900"/>
              </a:lnSpc>
              <a:spcBef>
                <a:spcPts val="85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spc="-10" dirty="0">
                <a:latin typeface="Calibri"/>
                <a:cs typeface="Calibri"/>
              </a:rPr>
              <a:t>BigBasket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(BB):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Traditionally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caters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larger,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minimum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values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(₹300-</a:t>
            </a:r>
            <a:r>
              <a:rPr sz="1600" dirty="0">
                <a:latin typeface="Calibri"/>
                <a:cs typeface="Calibri"/>
              </a:rPr>
              <a:t>500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free</a:t>
            </a:r>
            <a:endParaRPr sz="1600">
              <a:latin typeface="Calibri"/>
              <a:cs typeface="Calibri"/>
            </a:endParaRPr>
          </a:p>
          <a:p>
            <a:pPr marL="512445">
              <a:lnSpc>
                <a:spcPct val="100000"/>
              </a:lnSpc>
              <a:spcBef>
                <a:spcPts val="335"/>
              </a:spcBef>
            </a:pPr>
            <a:r>
              <a:rPr sz="1600" dirty="0">
                <a:latin typeface="Calibri"/>
                <a:cs typeface="Calibri"/>
              </a:rPr>
              <a:t>delivery),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though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BB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Now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caters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small,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1600">
              <a:latin typeface="Calibri"/>
              <a:cs typeface="Calibri"/>
            </a:endParaRPr>
          </a:p>
          <a:p>
            <a:pPr marL="512445" marR="129539">
              <a:lnSpc>
                <a:spcPct val="117300"/>
              </a:lnSpc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zepto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small,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frequent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orders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while Bigbasket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is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designed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larger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purchases.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is </a:t>
            </a:r>
            <a:r>
              <a:rPr sz="1600" b="1" dirty="0">
                <a:latin typeface="Calibri"/>
                <a:cs typeface="Calibri"/>
              </a:rPr>
              <a:t>flexible</a:t>
            </a:r>
            <a:r>
              <a:rPr sz="1600" b="1" spc="-7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7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both.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1533" y="808242"/>
            <a:ext cx="5502910" cy="5318125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45"/>
              </a:spcBef>
              <a:buAutoNum type="arabicPeriod" startAt="6"/>
              <a:tabLst>
                <a:tab pos="240029" algn="l"/>
              </a:tabLst>
            </a:pPr>
            <a:r>
              <a:rPr sz="2000" b="1" spc="-20" dirty="0">
                <a:latin typeface="Calibri"/>
                <a:cs typeface="Calibri"/>
              </a:rPr>
              <a:t>Technology </a:t>
            </a:r>
            <a:r>
              <a:rPr sz="2000" b="1" dirty="0">
                <a:latin typeface="Calibri"/>
                <a:cs typeface="Calibri"/>
              </a:rPr>
              <a:t>&amp;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App </a:t>
            </a:r>
            <a:r>
              <a:rPr sz="2000" b="1" spc="-10" dirty="0">
                <a:latin typeface="Calibri"/>
                <a:cs typeface="Calibri"/>
              </a:rPr>
              <a:t>Experience</a:t>
            </a:r>
            <a:endParaRPr sz="2000">
              <a:latin typeface="Calibri"/>
              <a:cs typeface="Calibri"/>
            </a:endParaRPr>
          </a:p>
          <a:p>
            <a:pPr marL="512445" marR="5080" lvl="1" indent="-228600">
              <a:lnSpc>
                <a:spcPct val="116900"/>
              </a:lnSpc>
              <a:spcBef>
                <a:spcPts val="185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Simple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intuitive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focused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speed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 </a:t>
            </a:r>
            <a:r>
              <a:rPr sz="1600" spc="-10" dirty="0">
                <a:latin typeface="Calibri"/>
                <a:cs typeface="Calibri"/>
              </a:rPr>
              <a:t>convenience.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tracking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times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well-integrated.</a:t>
            </a:r>
            <a:endParaRPr sz="1600">
              <a:latin typeface="Calibri"/>
              <a:cs typeface="Calibri"/>
            </a:endParaRPr>
          </a:p>
          <a:p>
            <a:pPr marL="512445" marR="520065" lvl="1" indent="-228600">
              <a:lnSpc>
                <a:spcPct val="116900"/>
              </a:lnSpc>
              <a:spcBef>
                <a:spcPts val="95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Zepto: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optimized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quick navigation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checkout,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updates</a:t>
            </a:r>
            <a:r>
              <a:rPr sz="1600" spc="-25" dirty="0">
                <a:latin typeface="Calibri"/>
                <a:cs typeface="Calibri"/>
              </a:rPr>
              <a:t> and </a:t>
            </a:r>
            <a:r>
              <a:rPr sz="1600" dirty="0">
                <a:latin typeface="Calibri"/>
                <a:cs typeface="Calibri"/>
              </a:rPr>
              <a:t>minimal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friction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buying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process.</a:t>
            </a:r>
            <a:endParaRPr sz="1600">
              <a:latin typeface="Calibri"/>
              <a:cs typeface="Calibri"/>
            </a:endParaRPr>
          </a:p>
          <a:p>
            <a:pPr marL="512445" lvl="1" indent="-228600">
              <a:lnSpc>
                <a:spcPct val="100000"/>
              </a:lnSpc>
              <a:spcBef>
                <a:spcPts val="409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(Swiggy</a:t>
            </a:r>
            <a:r>
              <a:rPr sz="1600" dirty="0">
                <a:latin typeface="Calibri"/>
                <a:cs typeface="Calibri"/>
              </a:rPr>
              <a:t>):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Leverages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Swiggy’s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established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app</a:t>
            </a:r>
            <a:endParaRPr sz="1600">
              <a:latin typeface="Calibri"/>
              <a:cs typeface="Calibri"/>
            </a:endParaRPr>
          </a:p>
          <a:p>
            <a:pPr marL="512445" marR="64769">
              <a:lnSpc>
                <a:spcPts val="2260"/>
              </a:lnSpc>
              <a:spcBef>
                <a:spcPts val="114"/>
              </a:spcBef>
            </a:pPr>
            <a:r>
              <a:rPr sz="1600" spc="-20" dirty="0">
                <a:latin typeface="Calibri"/>
                <a:cs typeface="Calibri"/>
              </a:rPr>
              <a:t>ecosystem,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offering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seamless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integration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Swiggy’s </a:t>
            </a:r>
            <a:r>
              <a:rPr sz="1600" spc="-20" dirty="0">
                <a:latin typeface="Calibri"/>
                <a:cs typeface="Calibri"/>
              </a:rPr>
              <a:t>food </a:t>
            </a:r>
            <a:r>
              <a:rPr sz="1600" spc="-10" dirty="0">
                <a:latin typeface="Calibri"/>
                <a:cs typeface="Calibri"/>
              </a:rPr>
              <a:t>delivery,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real-</a:t>
            </a:r>
            <a:r>
              <a:rPr sz="1600" dirty="0">
                <a:latin typeface="Calibri"/>
                <a:cs typeface="Calibri"/>
              </a:rPr>
              <a:t>time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tracking,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familiar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experience.</a:t>
            </a:r>
            <a:endParaRPr sz="1600">
              <a:latin typeface="Calibri"/>
              <a:cs typeface="Calibri"/>
            </a:endParaRPr>
          </a:p>
          <a:p>
            <a:pPr marL="512445" lvl="1" indent="-228600">
              <a:lnSpc>
                <a:spcPct val="100000"/>
              </a:lnSpc>
              <a:spcBef>
                <a:spcPts val="270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spc="-10" dirty="0">
                <a:latin typeface="Calibri"/>
                <a:cs typeface="Calibri"/>
              </a:rPr>
              <a:t>BigBasket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(BB):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Comprehensive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app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features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like</a:t>
            </a:r>
            <a:endParaRPr sz="1600">
              <a:latin typeface="Calibri"/>
              <a:cs typeface="Calibri"/>
            </a:endParaRPr>
          </a:p>
          <a:p>
            <a:pPr marL="512445" marR="53340">
              <a:lnSpc>
                <a:spcPct val="116900"/>
              </a:lnSpc>
            </a:pPr>
            <a:r>
              <a:rPr sz="1600" spc="-10" dirty="0">
                <a:latin typeface="Calibri"/>
                <a:cs typeface="Calibri"/>
              </a:rPr>
              <a:t>subscription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ordering,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scheduled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slots,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bulk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buying,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BB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Star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membership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benefits.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BB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Now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optimized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 </a:t>
            </a:r>
            <a:r>
              <a:rPr sz="1600" dirty="0">
                <a:latin typeface="Calibri"/>
                <a:cs typeface="Calibri"/>
              </a:rPr>
              <a:t>quicker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z="1600">
              <a:latin typeface="Calibri"/>
              <a:cs typeface="Calibri"/>
            </a:endParaRPr>
          </a:p>
          <a:p>
            <a:pPr marL="512445" marR="140970">
              <a:lnSpc>
                <a:spcPct val="116900"/>
              </a:lnSpc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Instamart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BB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larger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orders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while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25" dirty="0">
                <a:latin typeface="Calibri"/>
                <a:cs typeface="Calibri"/>
              </a:rPr>
              <a:t>and </a:t>
            </a:r>
            <a:r>
              <a:rPr sz="1600" b="1" dirty="0">
                <a:latin typeface="Calibri"/>
                <a:cs typeface="Calibri"/>
              </a:rPr>
              <a:t>Zepto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focus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on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simplicity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speed.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51533" y="6881539"/>
            <a:ext cx="5505450" cy="215900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750"/>
              </a:spcBef>
              <a:buAutoNum type="arabicPeriod" startAt="7"/>
              <a:tabLst>
                <a:tab pos="240029" algn="l"/>
              </a:tabLst>
            </a:pPr>
            <a:r>
              <a:rPr sz="2000" b="1" dirty="0">
                <a:latin typeface="Calibri"/>
                <a:cs typeface="Calibri"/>
              </a:rPr>
              <a:t>Operational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Costs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Sustainability</a:t>
            </a:r>
            <a:endParaRPr sz="2000">
              <a:latin typeface="Calibri"/>
              <a:cs typeface="Calibri"/>
            </a:endParaRPr>
          </a:p>
          <a:p>
            <a:pPr marL="512445" lvl="1" indent="-228600">
              <a:lnSpc>
                <a:spcPct val="100000"/>
              </a:lnSpc>
              <a:spcBef>
                <a:spcPts val="509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dirty="0">
                <a:latin typeface="Calibri"/>
                <a:cs typeface="Calibri"/>
              </a:rPr>
              <a:t>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Focuses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optimizing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efficiency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and</a:t>
            </a:r>
            <a:endParaRPr sz="1600">
              <a:latin typeface="Calibri"/>
              <a:cs typeface="Calibri"/>
            </a:endParaRPr>
          </a:p>
          <a:p>
            <a:pPr marL="512445" marR="337185">
              <a:lnSpc>
                <a:spcPct val="116900"/>
              </a:lnSpc>
              <a:spcBef>
                <a:spcPts val="10"/>
              </a:spcBef>
            </a:pPr>
            <a:r>
              <a:rPr sz="1600" dirty="0">
                <a:latin typeface="Calibri"/>
                <a:cs typeface="Calibri"/>
              </a:rPr>
              <a:t>minimizing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high-density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urban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operations. </a:t>
            </a:r>
            <a:r>
              <a:rPr sz="1600" dirty="0">
                <a:latin typeface="Calibri"/>
                <a:cs typeface="Calibri"/>
              </a:rPr>
              <a:t>Quick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deliveries,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however,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drive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logistics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costs.</a:t>
            </a:r>
            <a:endParaRPr sz="1600">
              <a:latin typeface="Calibri"/>
              <a:cs typeface="Calibri"/>
            </a:endParaRPr>
          </a:p>
          <a:p>
            <a:pPr marL="512445" marR="5080" lvl="1" indent="-228600">
              <a:lnSpc>
                <a:spcPct val="116900"/>
              </a:lnSpc>
              <a:spcBef>
                <a:spcPts val="85"/>
              </a:spcBef>
              <a:buFont typeface="Symbol"/>
              <a:buChar char=""/>
              <a:tabLst>
                <a:tab pos="512445" algn="l"/>
              </a:tabLst>
            </a:pPr>
            <a:r>
              <a:rPr sz="1600" b="1" dirty="0">
                <a:latin typeface="Calibri"/>
                <a:cs typeface="Calibri"/>
              </a:rPr>
              <a:t>Zepto: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Similar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Blinkit,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Zepto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dark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stores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close proximity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customers,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which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allows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deliveries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but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incur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costs.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2805" y="861720"/>
            <a:ext cx="5141595" cy="31743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16900"/>
              </a:lnSpc>
              <a:spcBef>
                <a:spcPts val="100"/>
              </a:spcBef>
              <a:buFont typeface="Symbol"/>
              <a:buChar char=""/>
              <a:tabLst>
                <a:tab pos="241300" algn="l"/>
              </a:tabLst>
            </a:pP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(Swiggy</a:t>
            </a:r>
            <a:r>
              <a:rPr sz="1600" dirty="0">
                <a:latin typeface="Calibri"/>
                <a:cs typeface="Calibri"/>
              </a:rPr>
              <a:t>):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Uses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Swiggy’s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well-established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delivery </a:t>
            </a:r>
            <a:r>
              <a:rPr sz="1600" dirty="0">
                <a:latin typeface="Calibri"/>
                <a:cs typeface="Calibri"/>
              </a:rPr>
              <a:t>fleet,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spreading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food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grocery</a:t>
            </a:r>
            <a:endParaRPr sz="16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325"/>
              </a:spcBef>
            </a:pPr>
            <a:r>
              <a:rPr sz="1600" dirty="0">
                <a:latin typeface="Calibri"/>
                <a:cs typeface="Calibri"/>
              </a:rPr>
              <a:t>services,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making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scalable.</a:t>
            </a:r>
            <a:endParaRPr sz="1600">
              <a:latin typeface="Calibri"/>
              <a:cs typeface="Calibri"/>
            </a:endParaRPr>
          </a:p>
          <a:p>
            <a:pPr marL="241300" marR="36830" indent="-228600">
              <a:lnSpc>
                <a:spcPct val="116900"/>
              </a:lnSpc>
              <a:spcBef>
                <a:spcPts val="95"/>
              </a:spcBef>
              <a:buFont typeface="Symbol"/>
              <a:buChar char=""/>
              <a:tabLst>
                <a:tab pos="241300" algn="l"/>
              </a:tabLst>
            </a:pPr>
            <a:r>
              <a:rPr sz="1600" b="1" spc="-10" dirty="0">
                <a:latin typeface="Calibri"/>
                <a:cs typeface="Calibri"/>
              </a:rPr>
              <a:t>BigBasket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(BB):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operational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costs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due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extensive warehousing,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economies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scale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larger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orders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planned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deliveries.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BB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Now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caters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quicker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deliveries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higher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operational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costs.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600">
              <a:latin typeface="Calibri"/>
              <a:cs typeface="Calibri"/>
            </a:endParaRPr>
          </a:p>
          <a:p>
            <a:pPr marL="241300" marR="36195" algn="just">
              <a:lnSpc>
                <a:spcPct val="116900"/>
              </a:lnSpc>
            </a:pPr>
            <a:r>
              <a:rPr sz="1600" b="1" dirty="0">
                <a:latin typeface="Calibri"/>
                <a:cs typeface="Calibri"/>
              </a:rPr>
              <a:t>Note: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BB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4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Instamart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are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better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balance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operational </a:t>
            </a:r>
            <a:r>
              <a:rPr sz="1600" b="1" dirty="0">
                <a:latin typeface="Calibri"/>
                <a:cs typeface="Calibri"/>
              </a:rPr>
              <a:t>costs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while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Blinkit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and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Zepto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have</a:t>
            </a:r>
            <a:r>
              <a:rPr sz="1600" b="1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higher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operational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cost </a:t>
            </a:r>
            <a:r>
              <a:rPr sz="1600" b="1" dirty="0">
                <a:latin typeface="Calibri"/>
                <a:cs typeface="Calibri"/>
              </a:rPr>
              <a:t>due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to</a:t>
            </a:r>
            <a:r>
              <a:rPr sz="1600" b="1" spc="-3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ultra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fast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deliveries.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2377</Words>
  <Application>Microsoft Office PowerPoint</Application>
  <PresentationFormat>Custom</PresentationFormat>
  <Paragraphs>278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Name: Ritik Kumar</vt:lpstr>
      <vt:lpstr>Q.A1</vt:lpstr>
      <vt:lpstr>Q.A2</vt:lpstr>
      <vt:lpstr>Q.A3</vt:lpstr>
      <vt:lpstr>Q.A4</vt:lpstr>
      <vt:lpstr>Q.A5</vt:lpstr>
      <vt:lpstr>Q.B1</vt:lpstr>
      <vt:lpstr>Q.B2</vt:lpstr>
      <vt:lpstr>Q.B3</vt:lpstr>
      <vt:lpstr>Q.B4</vt:lpstr>
      <vt:lpstr>Q.C1</vt:lpstr>
      <vt:lpstr>Q.C2</vt:lpstr>
      <vt:lpstr>Q.C3</vt:lpstr>
      <vt:lpstr>Q.C4</vt:lpstr>
      <vt:lpstr>Q.C5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Name: Ritik Kumar</dc:title>
  <dc:creator>Saurav Sharma</dc:creator>
  <cp:lastModifiedBy>sachin sen</cp:lastModifiedBy>
  <cp:revision>3</cp:revision>
  <dcterms:created xsi:type="dcterms:W3CDTF">2025-12-03T07:13:35Z</dcterms:created>
  <dcterms:modified xsi:type="dcterms:W3CDTF">2025-12-03T07:39:38Z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2024-10-05T00:00:00Z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2025-12-03T00:00:00Z</vt:filetime>
  </property>
  <property fmtid="{D5CDD505-2E9C-101B-9397-08002B2CF9AE}" pid="5" name="Producer">
    <vt:lpwstr>Microsoft® Word 2019</vt:lpwstr>
  </property>
</Properties>
</file>